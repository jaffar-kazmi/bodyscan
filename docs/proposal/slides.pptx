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6E29F2-8678-437A-8A81-A00D8066E49F}">
  <a:tblStyle styleId="{A86E29F2-8678-437A-8A81-A00D8066E49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9fbfbdbe5_5_69: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g3f9fbfbdbe5_5_69: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8: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9: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a1e6576f6_0_190: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g3fa1e6576f6_0_190: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1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1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a1e6576f6_0_95: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fa1e6576f6_0_95: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a1e6576f6_0_156: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3fa1e6576f6_0_156: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a1e6576f6_0_163: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fa1e6576f6_0_163: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a1e6576f6_0_107: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fa1e6576f6_0_107: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Final Year Project Proposal</a:t>
            </a:r>
            <a:endParaRPr>
              <a:solidFill>
                <a:srgbClr val="0B3D59"/>
              </a:solidFill>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lnSpcReduction="10000"/>
          </a:bodyPr>
          <a:lstStyle/>
          <a:p>
            <a:pPr indent="0" lvl="0" marL="63500" rtl="0" algn="ctr">
              <a:lnSpc>
                <a:spcPct val="100000"/>
              </a:lnSpc>
              <a:spcBef>
                <a:spcPts val="0"/>
              </a:spcBef>
              <a:spcAft>
                <a:spcPts val="0"/>
              </a:spcAft>
              <a:buClr>
                <a:srgbClr val="888888"/>
              </a:buClr>
              <a:buSzPts val="3200"/>
              <a:buFont typeface="Arial"/>
              <a:buNone/>
            </a:pPr>
            <a:r>
              <a:rPr lang="en-US"/>
              <a:t>GLANCE </a:t>
            </a:r>
            <a:r>
              <a:rPr lang="en-US"/>
              <a:t>– General Look-based Assessment for Non-invasive Care &amp; Evaluation</a:t>
            </a:r>
            <a:endParaRPr/>
          </a:p>
          <a:p>
            <a:pPr indent="0" lvl="0" marL="63500" rtl="0" algn="ctr">
              <a:lnSpc>
                <a:spcPct val="100000"/>
              </a:lnSpc>
              <a:spcBef>
                <a:spcPts val="280"/>
              </a:spcBef>
              <a:spcAft>
                <a:spcPts val="0"/>
              </a:spcAft>
              <a:buClr>
                <a:srgbClr val="888888"/>
              </a:buClr>
              <a:buSzPts val="1400"/>
              <a:buFont typeface="Arial"/>
              <a:buNone/>
            </a:pPr>
            <a:r>
              <a:rPr lang="en-US" sz="1400"/>
              <a:t>Supervised By: M. Islam Abbasi (Lecturer)</a:t>
            </a:r>
            <a:endParaRPr/>
          </a:p>
        </p:txBody>
      </p:sp>
      <p:pic>
        <p:nvPicPr>
          <p:cNvPr descr="Riphah.jpg" id="86" name="Google Shape;86;p13"/>
          <p:cNvPicPr preferRelativeResize="0"/>
          <p:nvPr/>
        </p:nvPicPr>
        <p:blipFill rotWithShape="1">
          <a:blip r:embed="rId4">
            <a:alphaModFix/>
          </a:blip>
          <a:srcRect b="4925" l="3033" r="6926" t="4065"/>
          <a:stretch/>
        </p:blipFill>
        <p:spPr>
          <a:xfrm>
            <a:off x="4076700" y="1295400"/>
            <a:ext cx="990600"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Project Team</a:t>
            </a:r>
            <a:endParaRPr>
              <a:solidFill>
                <a:srgbClr val="0B3D59"/>
              </a:solidFill>
            </a:endParaRPr>
          </a:p>
        </p:txBody>
      </p:sp>
      <p:sp>
        <p:nvSpPr>
          <p:cNvPr id="92" name="Google Shape;92;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B3D59"/>
              </a:buClr>
              <a:buSzPts val="3200"/>
              <a:buChar char="•"/>
            </a:pPr>
            <a:r>
              <a:rPr lang="en-US">
                <a:solidFill>
                  <a:srgbClr val="0B3D59"/>
                </a:solidFill>
              </a:rPr>
              <a:t>Syed Jaffar Raza Kazmi (57375)</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Shahroz Khalid (53531)</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Muhammad Sarmad Chughtai (54915)</a:t>
            </a:r>
            <a:endParaRPr>
              <a:solidFill>
                <a:srgbClr val="0B3D59"/>
              </a:solidFill>
            </a:endParaRPr>
          </a:p>
          <a:p>
            <a:pPr indent="-139700" lvl="0" marL="342900" rtl="0" algn="l">
              <a:lnSpc>
                <a:spcPct val="100000"/>
              </a:lnSpc>
              <a:spcBef>
                <a:spcPts val="640"/>
              </a:spcBef>
              <a:spcAft>
                <a:spcPts val="0"/>
              </a:spcAft>
              <a:buClr>
                <a:schemeClr val="dk1"/>
              </a:buClr>
              <a:buSzPts val="3200"/>
              <a:buNone/>
            </a:pPr>
            <a:r>
              <a:t/>
            </a:r>
            <a:endParaRPr>
              <a:solidFill>
                <a:srgbClr val="0B3D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Table of Content</a:t>
            </a:r>
            <a:endParaRPr>
              <a:solidFill>
                <a:srgbClr val="0B3D59"/>
              </a:solidFill>
            </a:endParaRPr>
          </a:p>
        </p:txBody>
      </p:sp>
      <p:sp>
        <p:nvSpPr>
          <p:cNvPr id="98" name="Google Shape;98;p15"/>
          <p:cNvSpPr txBox="1"/>
          <p:nvPr>
            <p:ph idx="1" type="body"/>
          </p:nvPr>
        </p:nvSpPr>
        <p:spPr>
          <a:xfrm>
            <a:off x="457200" y="14478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B3D59"/>
              </a:buClr>
              <a:buSzPts val="3200"/>
              <a:buChar char="•"/>
            </a:pPr>
            <a:r>
              <a:rPr lang="en-US">
                <a:solidFill>
                  <a:srgbClr val="0B3D59"/>
                </a:solidFill>
              </a:rPr>
              <a:t>Introduction and Background</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Literature Review and Summary Table</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Gap Analysis</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Problem Statement</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Proposed Solution &amp; Methodology</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Project Scope</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Work Breakdown Structure</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Roles and Responsibilities</a:t>
            </a:r>
            <a:endParaRPr>
              <a:solidFill>
                <a:srgbClr val="0B3D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INTRODUCTION AND BACKGROUND</a:t>
            </a:r>
            <a:endParaRPr>
              <a:solidFill>
                <a:srgbClr val="0B3D59"/>
              </a:solidFill>
            </a:endParaRPr>
          </a:p>
        </p:txBody>
      </p:sp>
      <p:sp>
        <p:nvSpPr>
          <p:cNvPr id="104" name="Google Shape;104;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INTRODUCTION AND BACKGROUND</a:t>
            </a:r>
            <a:endParaRPr>
              <a:solidFill>
                <a:srgbClr val="0B3D59"/>
              </a:solidFill>
            </a:endParaRPr>
          </a:p>
        </p:txBody>
      </p:sp>
      <p:sp>
        <p:nvSpPr>
          <p:cNvPr id="110" name="Google Shape;110;p17"/>
          <p:cNvSpPr/>
          <p:nvPr/>
        </p:nvSpPr>
        <p:spPr>
          <a:xfrm>
            <a:off x="548653" y="1580406"/>
            <a:ext cx="164700" cy="164700"/>
          </a:xfrm>
          <a:prstGeom prst="ellipse">
            <a:avLst/>
          </a:prstGeom>
          <a:solidFill>
            <a:srgbClr val="02C39A"/>
          </a:solidFill>
          <a:ln>
            <a:noFill/>
          </a:ln>
        </p:spPr>
        <p:txBody>
          <a:bodyPr anchorCtr="0" anchor="ctr" bIns="117575" lIns="117575" spcFirstLastPara="1" rIns="117575" wrap="square" tIns="11757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11" name="Google Shape;111;p17"/>
          <p:cNvSpPr/>
          <p:nvPr/>
        </p:nvSpPr>
        <p:spPr>
          <a:xfrm>
            <a:off x="896165" y="1443109"/>
            <a:ext cx="7761900" cy="411600"/>
          </a:xfrm>
          <a:prstGeom prst="rect">
            <a:avLst/>
          </a:prstGeom>
          <a:noFill/>
          <a:ln>
            <a:noFill/>
          </a:ln>
        </p:spPr>
        <p:txBody>
          <a:bodyPr anchorCtr="0" anchor="ctr" bIns="58775" lIns="117575" spcFirstLastPara="1" rIns="117575" wrap="square" tIns="58775">
            <a:noAutofit/>
          </a:bodyPr>
          <a:lstStyle/>
          <a:p>
            <a:pPr indent="0" lvl="0" marL="0" marR="0" rtl="0" algn="l">
              <a:spcBef>
                <a:spcPts val="0"/>
              </a:spcBef>
              <a:spcAft>
                <a:spcPts val="0"/>
              </a:spcAft>
              <a:buClr>
                <a:srgbClr val="0B3D59"/>
              </a:buClr>
              <a:buSzPts val="2058"/>
              <a:buFont typeface="Cambria"/>
              <a:buNone/>
            </a:pPr>
            <a:r>
              <a:rPr b="1" i="0" lang="en-US" sz="2058" u="none" cap="none" strike="noStrike">
                <a:solidFill>
                  <a:srgbClr val="0B3D59"/>
                </a:solidFill>
                <a:latin typeface="Calibri"/>
                <a:ea typeface="Calibri"/>
                <a:cs typeface="Calibri"/>
                <a:sym typeface="Calibri"/>
              </a:rPr>
              <a:t>The problem space</a:t>
            </a:r>
            <a:endParaRPr i="0" sz="2058" u="none" cap="none" strike="noStrike">
              <a:solidFill>
                <a:srgbClr val="0B3D59"/>
              </a:solidFill>
              <a:latin typeface="Calibri"/>
              <a:ea typeface="Calibri"/>
              <a:cs typeface="Calibri"/>
              <a:sym typeface="Calibri"/>
            </a:endParaRPr>
          </a:p>
        </p:txBody>
      </p:sp>
      <p:sp>
        <p:nvSpPr>
          <p:cNvPr id="112" name="Google Shape;112;p17"/>
          <p:cNvSpPr/>
          <p:nvPr/>
        </p:nvSpPr>
        <p:spPr>
          <a:xfrm>
            <a:off x="924980" y="1775085"/>
            <a:ext cx="7761900" cy="764400"/>
          </a:xfrm>
          <a:prstGeom prst="rect">
            <a:avLst/>
          </a:prstGeom>
          <a:noFill/>
          <a:ln>
            <a:noFill/>
          </a:ln>
        </p:spPr>
        <p:txBody>
          <a:bodyPr anchorCtr="0" anchor="t" bIns="58775" lIns="117575" spcFirstLastPara="1" rIns="117575" wrap="square" tIns="58775">
            <a:noAutofit/>
          </a:bodyPr>
          <a:lstStyle/>
          <a:p>
            <a:pPr indent="0" lvl="0" marL="0" marR="0" rtl="0" algn="l">
              <a:lnSpc>
                <a:spcPct val="115000"/>
              </a:lnSpc>
              <a:spcBef>
                <a:spcPts val="0"/>
              </a:spcBef>
              <a:spcAft>
                <a:spcPts val="0"/>
              </a:spcAft>
              <a:buClr>
                <a:srgbClr val="13232E"/>
              </a:buClr>
              <a:buSzPts val="1608"/>
              <a:buFont typeface="Calibri"/>
              <a:buNone/>
            </a:pPr>
            <a:r>
              <a:rPr i="0" lang="en-US" sz="2000" u="none" cap="none" strike="noStrike">
                <a:solidFill>
                  <a:schemeClr val="dk1"/>
                </a:solidFill>
                <a:latin typeface="Calibri"/>
                <a:ea typeface="Calibri"/>
                <a:cs typeface="Calibri"/>
                <a:sym typeface="Calibri"/>
              </a:rPr>
              <a:t>Many systemic diseases first surface as visible changes on body surfaces (</a:t>
            </a:r>
            <a:r>
              <a:rPr lang="en-US" sz="2000">
                <a:solidFill>
                  <a:schemeClr val="dk1"/>
                </a:solidFill>
                <a:latin typeface="Calibri"/>
                <a:ea typeface="Calibri"/>
                <a:cs typeface="Calibri"/>
                <a:sym typeface="Calibri"/>
              </a:rPr>
              <a:t>e.g</a:t>
            </a:r>
            <a:r>
              <a:rPr i="0" lang="en-US" sz="2000" u="none" cap="none" strike="noStrike">
                <a:solidFill>
                  <a:schemeClr val="dk1"/>
                </a:solidFill>
                <a:latin typeface="Calibri"/>
                <a:ea typeface="Calibri"/>
                <a:cs typeface="Calibri"/>
                <a:sym typeface="Calibri"/>
              </a:rPr>
              <a:t> oral lesions, nail clubbing, conjunctival pallor, tongue coating, palmar signs </a:t>
            </a:r>
            <a:r>
              <a:rPr lang="en-US" sz="2000">
                <a:solidFill>
                  <a:schemeClr val="dk1"/>
                </a:solidFill>
                <a:latin typeface="Calibri"/>
                <a:ea typeface="Calibri"/>
                <a:cs typeface="Calibri"/>
                <a:sym typeface="Calibri"/>
              </a:rPr>
              <a:t>etc)</a:t>
            </a:r>
            <a:r>
              <a:rPr i="0" lang="en-US" sz="2000" u="none" cap="none" strike="noStrike">
                <a:solidFill>
                  <a:schemeClr val="dk1"/>
                </a:solidFill>
                <a:latin typeface="Calibri"/>
                <a:ea typeface="Calibri"/>
                <a:cs typeface="Calibri"/>
                <a:sym typeface="Calibri"/>
              </a:rPr>
              <a:t> long before lab-confirmed diagnosis.</a:t>
            </a:r>
            <a:endParaRPr i="0" sz="2000" u="none" cap="none" strike="noStrike">
              <a:solidFill>
                <a:schemeClr val="dk1"/>
              </a:solidFill>
              <a:latin typeface="Calibri"/>
              <a:ea typeface="Calibri"/>
              <a:cs typeface="Calibri"/>
              <a:sym typeface="Calibri"/>
            </a:endParaRPr>
          </a:p>
        </p:txBody>
      </p:sp>
      <p:sp>
        <p:nvSpPr>
          <p:cNvPr id="113" name="Google Shape;113;p17"/>
          <p:cNvSpPr/>
          <p:nvPr/>
        </p:nvSpPr>
        <p:spPr>
          <a:xfrm>
            <a:off x="548653" y="3088678"/>
            <a:ext cx="164700" cy="164700"/>
          </a:xfrm>
          <a:prstGeom prst="ellipse">
            <a:avLst/>
          </a:prstGeom>
          <a:solidFill>
            <a:srgbClr val="02C39A"/>
          </a:solidFill>
          <a:ln>
            <a:noFill/>
          </a:ln>
        </p:spPr>
        <p:txBody>
          <a:bodyPr anchorCtr="0" anchor="ctr" bIns="117575" lIns="117575" spcFirstLastPara="1" rIns="117575" wrap="square" tIns="11757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14" name="Google Shape;114;p17"/>
          <p:cNvSpPr/>
          <p:nvPr/>
        </p:nvSpPr>
        <p:spPr>
          <a:xfrm>
            <a:off x="924980" y="2942835"/>
            <a:ext cx="7761900" cy="411600"/>
          </a:xfrm>
          <a:prstGeom prst="rect">
            <a:avLst/>
          </a:prstGeom>
          <a:noFill/>
          <a:ln>
            <a:noFill/>
          </a:ln>
        </p:spPr>
        <p:txBody>
          <a:bodyPr anchorCtr="0" anchor="ctr" bIns="58775" lIns="117575" spcFirstLastPara="1" rIns="117575" wrap="square" tIns="58775">
            <a:noAutofit/>
          </a:bodyPr>
          <a:lstStyle/>
          <a:p>
            <a:pPr indent="0" lvl="0" marL="0" marR="0" rtl="0" algn="l">
              <a:spcBef>
                <a:spcPts val="0"/>
              </a:spcBef>
              <a:spcAft>
                <a:spcPts val="0"/>
              </a:spcAft>
              <a:buClr>
                <a:srgbClr val="0B3D59"/>
              </a:buClr>
              <a:buSzPts val="2058"/>
              <a:buFont typeface="Cambria"/>
              <a:buNone/>
            </a:pPr>
            <a:r>
              <a:rPr b="1" i="0" lang="en-US" sz="2058" u="none" cap="none" strike="noStrike">
                <a:solidFill>
                  <a:srgbClr val="0B3D59"/>
                </a:solidFill>
                <a:latin typeface="Calibri"/>
                <a:ea typeface="Calibri"/>
                <a:cs typeface="Calibri"/>
                <a:sym typeface="Calibri"/>
              </a:rPr>
              <a:t>The opportunity</a:t>
            </a:r>
            <a:endParaRPr i="0" sz="2058" u="none" cap="none" strike="noStrike">
              <a:solidFill>
                <a:srgbClr val="0B3D59"/>
              </a:solidFill>
              <a:latin typeface="Calibri"/>
              <a:ea typeface="Calibri"/>
              <a:cs typeface="Calibri"/>
              <a:sym typeface="Calibri"/>
            </a:endParaRPr>
          </a:p>
        </p:txBody>
      </p:sp>
      <p:sp>
        <p:nvSpPr>
          <p:cNvPr id="115" name="Google Shape;115;p17"/>
          <p:cNvSpPr/>
          <p:nvPr/>
        </p:nvSpPr>
        <p:spPr>
          <a:xfrm>
            <a:off x="924980" y="3278034"/>
            <a:ext cx="7761900" cy="764400"/>
          </a:xfrm>
          <a:prstGeom prst="rect">
            <a:avLst/>
          </a:prstGeom>
          <a:noFill/>
          <a:ln>
            <a:noFill/>
          </a:ln>
        </p:spPr>
        <p:txBody>
          <a:bodyPr anchorCtr="0" anchor="t" bIns="58775" lIns="117575" spcFirstLastPara="1" rIns="117575" wrap="square" tIns="58775">
            <a:noAutofit/>
          </a:bodyPr>
          <a:lstStyle/>
          <a:p>
            <a:pPr indent="0" lvl="0" marL="0" marR="0" rtl="0" algn="l">
              <a:lnSpc>
                <a:spcPct val="115000"/>
              </a:lnSpc>
              <a:spcBef>
                <a:spcPts val="0"/>
              </a:spcBef>
              <a:spcAft>
                <a:spcPts val="0"/>
              </a:spcAft>
              <a:buClr>
                <a:srgbClr val="13232E"/>
              </a:buClr>
              <a:buSzPts val="1608"/>
              <a:buFont typeface="Calibri"/>
              <a:buNone/>
            </a:pPr>
            <a:r>
              <a:rPr i="0" lang="en-US" sz="2000" u="none" cap="none" strike="noStrike">
                <a:solidFill>
                  <a:schemeClr val="dk1"/>
                </a:solidFill>
                <a:latin typeface="Calibri"/>
                <a:ea typeface="Calibri"/>
                <a:cs typeface="Calibri"/>
                <a:sym typeface="Calibri"/>
              </a:rPr>
              <a:t>Smartphones are now ubiquitous even where clinicians and diagnostic labs are scarce, making camera-based pre-screening a realistic first triage layer.</a:t>
            </a:r>
            <a:endParaRPr i="0" sz="2000" u="none" cap="none" strike="noStrike">
              <a:solidFill>
                <a:schemeClr val="dk1"/>
              </a:solidFill>
              <a:latin typeface="Calibri"/>
              <a:ea typeface="Calibri"/>
              <a:cs typeface="Calibri"/>
              <a:sym typeface="Calibri"/>
            </a:endParaRPr>
          </a:p>
        </p:txBody>
      </p:sp>
      <p:sp>
        <p:nvSpPr>
          <p:cNvPr id="116" name="Google Shape;116;p17"/>
          <p:cNvSpPr/>
          <p:nvPr/>
        </p:nvSpPr>
        <p:spPr>
          <a:xfrm>
            <a:off x="548653" y="4513144"/>
            <a:ext cx="164700" cy="164700"/>
          </a:xfrm>
          <a:prstGeom prst="ellipse">
            <a:avLst/>
          </a:prstGeom>
          <a:solidFill>
            <a:srgbClr val="02C39A"/>
          </a:solidFill>
          <a:ln>
            <a:noFill/>
          </a:ln>
        </p:spPr>
        <p:txBody>
          <a:bodyPr anchorCtr="0" anchor="ctr" bIns="117575" lIns="117575" spcFirstLastPara="1" rIns="117575" wrap="square" tIns="11757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17" name="Google Shape;117;p17"/>
          <p:cNvSpPr/>
          <p:nvPr/>
        </p:nvSpPr>
        <p:spPr>
          <a:xfrm>
            <a:off x="881757" y="4378487"/>
            <a:ext cx="7761900" cy="411600"/>
          </a:xfrm>
          <a:prstGeom prst="rect">
            <a:avLst/>
          </a:prstGeom>
          <a:noFill/>
          <a:ln>
            <a:noFill/>
          </a:ln>
        </p:spPr>
        <p:txBody>
          <a:bodyPr anchorCtr="0" anchor="ctr" bIns="58775" lIns="117575" spcFirstLastPara="1" rIns="117575" wrap="square" tIns="58775">
            <a:noAutofit/>
          </a:bodyPr>
          <a:lstStyle/>
          <a:p>
            <a:pPr indent="0" lvl="0" marL="0" marR="0" rtl="0" algn="l">
              <a:spcBef>
                <a:spcPts val="0"/>
              </a:spcBef>
              <a:spcAft>
                <a:spcPts val="0"/>
              </a:spcAft>
              <a:buClr>
                <a:srgbClr val="0B3D59"/>
              </a:buClr>
              <a:buSzPts val="2058"/>
              <a:buFont typeface="Cambria"/>
              <a:buNone/>
            </a:pPr>
            <a:r>
              <a:rPr b="1" i="0" lang="en-US" sz="2058" u="none" cap="none" strike="noStrike">
                <a:solidFill>
                  <a:srgbClr val="0B3D59"/>
                </a:solidFill>
                <a:latin typeface="Calibri"/>
                <a:ea typeface="Calibri"/>
                <a:cs typeface="Calibri"/>
                <a:sym typeface="Calibri"/>
              </a:rPr>
              <a:t>The technical angle</a:t>
            </a:r>
            <a:endParaRPr i="0" sz="2058" u="none" cap="none" strike="noStrike">
              <a:solidFill>
                <a:srgbClr val="0B3D59"/>
              </a:solidFill>
              <a:latin typeface="Calibri"/>
              <a:ea typeface="Calibri"/>
              <a:cs typeface="Calibri"/>
              <a:sym typeface="Calibri"/>
            </a:endParaRPr>
          </a:p>
        </p:txBody>
      </p:sp>
      <p:sp>
        <p:nvSpPr>
          <p:cNvPr id="118" name="Google Shape;118;p17"/>
          <p:cNvSpPr/>
          <p:nvPr/>
        </p:nvSpPr>
        <p:spPr>
          <a:xfrm>
            <a:off x="924980" y="4737760"/>
            <a:ext cx="7761900" cy="764400"/>
          </a:xfrm>
          <a:prstGeom prst="rect">
            <a:avLst/>
          </a:prstGeom>
          <a:noFill/>
          <a:ln>
            <a:noFill/>
          </a:ln>
        </p:spPr>
        <p:txBody>
          <a:bodyPr anchorCtr="0" anchor="t" bIns="58775" lIns="117575" spcFirstLastPara="1" rIns="117575" wrap="square" tIns="58775">
            <a:noAutofit/>
          </a:bodyPr>
          <a:lstStyle/>
          <a:p>
            <a:pPr indent="0" lvl="0" marL="0" marR="0" rtl="0" algn="l">
              <a:lnSpc>
                <a:spcPct val="115000"/>
              </a:lnSpc>
              <a:spcBef>
                <a:spcPts val="0"/>
              </a:spcBef>
              <a:spcAft>
                <a:spcPts val="0"/>
              </a:spcAft>
              <a:buClr>
                <a:srgbClr val="13232E"/>
              </a:buClr>
              <a:buSzPts val="1608"/>
              <a:buFont typeface="Calibri"/>
              <a:buNone/>
            </a:pPr>
            <a:r>
              <a:rPr i="0" lang="en-US" sz="2000" u="none" cap="none" strike="noStrike">
                <a:solidFill>
                  <a:schemeClr val="dk1"/>
                </a:solidFill>
                <a:latin typeface="Calibri"/>
                <a:ea typeface="Calibri"/>
                <a:cs typeface="Calibri"/>
                <a:sym typeface="Calibri"/>
              </a:rPr>
              <a:t>Vision Transformers now match or beat CNNs on medical image tasks, and cross-modal fusion lets multiple weak visual signals combine into one confident, explainable assessment.</a:t>
            </a:r>
            <a:endParaRPr i="0" sz="2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par>
                                <p:cTn fill="hold" nodeType="with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LITERATURE REVIEW</a:t>
            </a:r>
            <a:endParaRPr>
              <a:solidFill>
                <a:srgbClr val="0B3D59"/>
              </a:solidFill>
            </a:endParaRPr>
          </a:p>
        </p:txBody>
      </p:sp>
      <p:sp>
        <p:nvSpPr>
          <p:cNvPr id="124" name="Google Shape;124;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t>LITERATURE REVIEW</a:t>
            </a:r>
            <a:endParaRPr sz="2000"/>
          </a:p>
        </p:txBody>
      </p:sp>
      <p:graphicFrame>
        <p:nvGraphicFramePr>
          <p:cNvPr id="130" name="Google Shape;130;p19"/>
          <p:cNvGraphicFramePr/>
          <p:nvPr/>
        </p:nvGraphicFramePr>
        <p:xfrm>
          <a:off x="457200" y="1609200"/>
          <a:ext cx="3000000" cy="3000000"/>
        </p:xfrm>
        <a:graphic>
          <a:graphicData uri="http://schemas.openxmlformats.org/drawingml/2006/table">
            <a:tbl>
              <a:tblPr>
                <a:noFill/>
                <a:tableStyleId>{A86E29F2-8678-437A-8A81-A00D8066E49F}</a:tableStyleId>
              </a:tblPr>
              <a:tblGrid>
                <a:gridCol w="2057400"/>
                <a:gridCol w="2057400"/>
                <a:gridCol w="2057400"/>
                <a:gridCol w="2057400"/>
              </a:tblGrid>
              <a:tr h="562475">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Source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Modality</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Method</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Key Limitation</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076550">
                <a:tc>
                  <a:txBody>
                    <a:bodyPr/>
                    <a:lstStyle/>
                    <a:p>
                      <a:pPr indent="0" lvl="0" marL="0" rtl="0" algn="l">
                        <a:spcBef>
                          <a:spcPts val="0"/>
                        </a:spcBef>
                        <a:spcAft>
                          <a:spcPts val="0"/>
                        </a:spcAft>
                        <a:buNone/>
                      </a:pPr>
                      <a:r>
                        <a:rPr lang="en-US" sz="2000">
                          <a:latin typeface="Calibri"/>
                          <a:ea typeface="Calibri"/>
                          <a:cs typeface="Calibri"/>
                          <a:sym typeface="Calibri"/>
                        </a:rPr>
                        <a:t>Flügge et al., 2023</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Oral cavity, OSCC</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Swin</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Transformer, Grad-CAM</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Single surface, no fusion</a:t>
                      </a:r>
                      <a:endParaRPr sz="2000">
                        <a:latin typeface="Calibri"/>
                        <a:ea typeface="Calibri"/>
                        <a:cs typeface="Calibri"/>
                        <a:sym typeface="Calibri"/>
                      </a:endParaRPr>
                    </a:p>
                  </a:txBody>
                  <a:tcPr marT="91425" marB="91425" marR="91425" marL="91425"/>
                </a:tc>
              </a:tr>
              <a:tr h="1076550">
                <a:tc>
                  <a:txBody>
                    <a:bodyPr/>
                    <a:lstStyle/>
                    <a:p>
                      <a:pPr indent="0" lvl="0" marL="0" rtl="0" algn="l">
                        <a:spcBef>
                          <a:spcPts val="0"/>
                        </a:spcBef>
                        <a:spcAft>
                          <a:spcPts val="0"/>
                        </a:spcAft>
                        <a:buNone/>
                      </a:pPr>
                      <a:r>
                        <a:rPr lang="en-US" sz="2000">
                          <a:latin typeface="Calibri"/>
                          <a:ea typeface="Calibri"/>
                          <a:cs typeface="Calibri"/>
                          <a:sym typeface="Calibri"/>
                        </a:rPr>
                        <a:t>Rabinovici-Cohen et al., 2024</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Oral cavity,  OPMD/OSCC</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T</a:t>
                      </a:r>
                      <a:r>
                        <a:rPr lang="en-US" sz="2000">
                          <a:solidFill>
                            <a:schemeClr val="dk1"/>
                          </a:solidFill>
                          <a:latin typeface="Calibri"/>
                          <a:ea typeface="Calibri"/>
                          <a:cs typeface="Calibri"/>
                          <a:sym typeface="Calibri"/>
                        </a:rPr>
                        <a:t>ransfer-learning classifier</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lass imbalance, limited external validation</a:t>
                      </a:r>
                      <a:endParaRPr sz="2000">
                        <a:latin typeface="Calibri"/>
                        <a:ea typeface="Calibri"/>
                        <a:cs typeface="Calibri"/>
                        <a:sym typeface="Calibri"/>
                      </a:endParaRPr>
                    </a:p>
                  </a:txBody>
                  <a:tcPr marT="91425" marB="91425" marR="91425" marL="91425">
                    <a:solidFill>
                      <a:srgbClr val="E1E9EA"/>
                    </a:solidFill>
                  </a:tcPr>
                </a:tc>
              </a:tr>
              <a:tr h="1179525">
                <a:tc>
                  <a:txBody>
                    <a:bodyPr/>
                    <a:lstStyle/>
                    <a:p>
                      <a:pPr indent="0" lvl="0" marL="0" rtl="0" algn="l">
                        <a:spcBef>
                          <a:spcPts val="0"/>
                        </a:spcBef>
                        <a:spcAft>
                          <a:spcPts val="0"/>
                        </a:spcAft>
                        <a:buNone/>
                      </a:pPr>
                      <a:r>
                        <a:rPr lang="en-US" sz="2000">
                          <a:latin typeface="Calibri"/>
                          <a:ea typeface="Calibri"/>
                          <a:cs typeface="Calibri"/>
                          <a:sym typeface="Calibri"/>
                        </a:rPr>
                        <a:t>Asare et al., 2023</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Nails, palm, conjunctiva</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CNN, SVM, k-NN (compared)</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S</a:t>
                      </a:r>
                      <a:r>
                        <a:rPr lang="en-US" sz="2000">
                          <a:solidFill>
                            <a:schemeClr val="dk1"/>
                          </a:solidFill>
                          <a:latin typeface="Calibri"/>
                          <a:ea typeface="Calibri"/>
                          <a:cs typeface="Calibri"/>
                          <a:sym typeface="Calibri"/>
                        </a:rPr>
                        <a:t>urfaces compared, never fused</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LITERATURE REVIEW</a:t>
            </a:r>
            <a:endParaRPr sz="2000">
              <a:solidFill>
                <a:srgbClr val="0B3D59"/>
              </a:solidFill>
            </a:endParaRPr>
          </a:p>
        </p:txBody>
      </p:sp>
      <p:graphicFrame>
        <p:nvGraphicFramePr>
          <p:cNvPr id="136" name="Google Shape;136;p20"/>
          <p:cNvGraphicFramePr/>
          <p:nvPr/>
        </p:nvGraphicFramePr>
        <p:xfrm>
          <a:off x="457200" y="1609200"/>
          <a:ext cx="3000000" cy="3000000"/>
        </p:xfrm>
        <a:graphic>
          <a:graphicData uri="http://schemas.openxmlformats.org/drawingml/2006/table">
            <a:tbl>
              <a:tblPr>
                <a:noFill/>
                <a:tableStyleId>{A86E29F2-8678-437A-8A81-A00D8066E49F}</a:tableStyleId>
              </a:tblPr>
              <a:tblGrid>
                <a:gridCol w="2057400"/>
                <a:gridCol w="2057400"/>
                <a:gridCol w="2057400"/>
                <a:gridCol w="2057400"/>
              </a:tblGrid>
              <a:tr h="524750">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Source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Modality</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Method</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Key Limitation</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385475">
                <a:tc>
                  <a:txBody>
                    <a:bodyPr/>
                    <a:lstStyle/>
                    <a:p>
                      <a:pPr indent="0" lvl="0" marL="0" rtl="0" algn="l">
                        <a:spcBef>
                          <a:spcPts val="0"/>
                        </a:spcBef>
                        <a:spcAft>
                          <a:spcPts val="0"/>
                        </a:spcAft>
                        <a:buNone/>
                      </a:pPr>
                      <a:r>
                        <a:rPr lang="en-US" sz="2000">
                          <a:latin typeface="Calibri"/>
                          <a:ea typeface="Calibri"/>
                          <a:cs typeface="Calibri"/>
                          <a:sym typeface="Calibri"/>
                        </a:rPr>
                        <a:t>Ye et al., 2026 (iMES)</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Face, tongue, pulse</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CCA fusion, SHAP</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Dedicated hardware, no uncertainty output</a:t>
                      </a:r>
                      <a:endParaRPr sz="2000">
                        <a:latin typeface="Calibri"/>
                        <a:ea typeface="Calibri"/>
                        <a:cs typeface="Calibri"/>
                        <a:sym typeface="Calibri"/>
                      </a:endParaRPr>
                    </a:p>
                  </a:txBody>
                  <a:tcPr marT="91425" marB="91425" marR="91425" marL="91425"/>
                </a:tc>
              </a:tr>
              <a:tr h="1084275">
                <a:tc>
                  <a:txBody>
                    <a:bodyPr/>
                    <a:lstStyle/>
                    <a:p>
                      <a:pPr indent="0" lvl="0" marL="0" rtl="0" algn="l">
                        <a:spcBef>
                          <a:spcPts val="0"/>
                        </a:spcBef>
                        <a:spcAft>
                          <a:spcPts val="0"/>
                        </a:spcAft>
                        <a:buNone/>
                      </a:pPr>
                      <a:r>
                        <a:rPr lang="en-US" sz="2000">
                          <a:latin typeface="Calibri"/>
                          <a:ea typeface="Calibri"/>
                          <a:cs typeface="Calibri"/>
                          <a:sym typeface="Calibri"/>
                        </a:rPr>
                        <a:t>General ViT literature</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Various medical imaging</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Vision Transformer encoders</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Rarely combined across surfaces</a:t>
                      </a:r>
                      <a:endParaRPr sz="2000">
                        <a:latin typeface="Calibri"/>
                        <a:ea typeface="Calibri"/>
                        <a:cs typeface="Calibri"/>
                        <a:sym typeface="Calibri"/>
                      </a:endParaRPr>
                    </a:p>
                  </a:txBody>
                  <a:tcPr marT="91425" marB="91425" marR="91425" marL="91425">
                    <a:solidFill>
                      <a:srgbClr val="E1E9EA"/>
                    </a:solidFill>
                  </a:tcPr>
                </a:tc>
              </a:tr>
              <a:tr h="1385475">
                <a:tc>
                  <a:txBody>
                    <a:bodyPr/>
                    <a:lstStyle/>
                    <a:p>
                      <a:pPr indent="0" lvl="0" marL="0" rtl="0" algn="l">
                        <a:spcBef>
                          <a:spcPts val="0"/>
                        </a:spcBef>
                        <a:spcAft>
                          <a:spcPts val="0"/>
                        </a:spcAft>
                        <a:buNone/>
                      </a:pPr>
                      <a:r>
                        <a:rPr lang="en-US" sz="2000">
                          <a:latin typeface="Calibri"/>
                          <a:ea typeface="Calibri"/>
                          <a:cs typeface="Calibri"/>
                          <a:sym typeface="Calibri"/>
                        </a:rPr>
                        <a:t>Multimodal fusion literature</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Cross-domain imaging</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Attention-based fusion</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No smartphone-only variant</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Gap Analysis</a:t>
            </a:r>
            <a:endParaRPr>
              <a:solidFill>
                <a:srgbClr val="0B3D59"/>
              </a:solidFill>
            </a:endParaRPr>
          </a:p>
        </p:txBody>
      </p:sp>
      <p:sp>
        <p:nvSpPr>
          <p:cNvPr id="142" name="Google Shape;142;p21"/>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Gap Analysis</a:t>
            </a:r>
            <a:endParaRPr b="1" sz="4000">
              <a:solidFill>
                <a:srgbClr val="0B3D59"/>
              </a:solidFill>
            </a:endParaRPr>
          </a:p>
        </p:txBody>
      </p:sp>
      <p:sp>
        <p:nvSpPr>
          <p:cNvPr id="148" name="Google Shape;148;p22"/>
          <p:cNvSpPr txBox="1"/>
          <p:nvPr>
            <p:ph idx="1" type="body"/>
          </p:nvPr>
        </p:nvSpPr>
        <p:spPr>
          <a:xfrm>
            <a:off x="457200" y="1470530"/>
            <a:ext cx="8229600" cy="1402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3200"/>
              <a:buNone/>
            </a:pPr>
            <a:r>
              <a:rPr b="1" lang="en-US" sz="2100"/>
              <a:t>1. Single-surface tools dominate the field.</a:t>
            </a:r>
            <a:r>
              <a:rPr lang="en-US" sz="2100"/>
              <a:t> Conjunctival pallor detection, nail-based anemia/clubbing classifiers, and oral cavity OSCC screeners each work on one body surface only. None combine surfaces.</a:t>
            </a:r>
            <a:endParaRPr sz="2100"/>
          </a:p>
          <a:p>
            <a:pPr indent="-139700" lvl="0" marL="342900" rtl="0" algn="l">
              <a:lnSpc>
                <a:spcPct val="150000"/>
              </a:lnSpc>
              <a:spcBef>
                <a:spcPts val="0"/>
              </a:spcBef>
              <a:spcAft>
                <a:spcPts val="0"/>
              </a:spcAft>
              <a:buClr>
                <a:schemeClr val="dk1"/>
              </a:buClr>
              <a:buSzPts val="3200"/>
              <a:buNone/>
            </a:pPr>
            <a:r>
              <a:t/>
            </a:r>
            <a:endParaRPr sz="1200">
              <a:latin typeface="Arial"/>
              <a:ea typeface="Arial"/>
              <a:cs typeface="Arial"/>
              <a:sym typeface="Arial"/>
            </a:endParaRPr>
          </a:p>
        </p:txBody>
      </p:sp>
      <p:sp>
        <p:nvSpPr>
          <p:cNvPr id="149" name="Google Shape;149;p22"/>
          <p:cNvSpPr txBox="1"/>
          <p:nvPr/>
        </p:nvSpPr>
        <p:spPr>
          <a:xfrm>
            <a:off x="478325" y="2944900"/>
            <a:ext cx="8208600" cy="1383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Clr>
                <a:schemeClr val="dk1"/>
              </a:buClr>
              <a:buSzPts val="1100"/>
              <a:buFont typeface="Arial"/>
              <a:buNone/>
            </a:pPr>
            <a:r>
              <a:rPr b="1" lang="en-US" sz="2100">
                <a:solidFill>
                  <a:schemeClr val="dk1"/>
                </a:solidFill>
                <a:latin typeface="Calibri"/>
                <a:ea typeface="Calibri"/>
                <a:cs typeface="Calibri"/>
                <a:sym typeface="Calibri"/>
              </a:rPr>
              <a:t>2. No cross-surface fusion.</a:t>
            </a:r>
            <a:r>
              <a:rPr lang="en-US" sz="2100">
                <a:solidFill>
                  <a:schemeClr val="dk1"/>
                </a:solidFill>
                <a:latin typeface="Calibri"/>
                <a:ea typeface="Calibri"/>
                <a:cs typeface="Calibri"/>
                <a:sym typeface="Calibri"/>
              </a:rPr>
              <a:t> Asare et al. (2023) collected fingernail, palm, and conjunctiva images from the same patients but only compared them, never fused them into one model.</a:t>
            </a:r>
            <a:endParaRPr sz="3200">
              <a:solidFill>
                <a:schemeClr val="dk1"/>
              </a:solidFill>
              <a:latin typeface="Calibri"/>
              <a:ea typeface="Calibri"/>
              <a:cs typeface="Calibri"/>
              <a:sym typeface="Calibri"/>
            </a:endParaRPr>
          </a:p>
        </p:txBody>
      </p:sp>
      <p:sp>
        <p:nvSpPr>
          <p:cNvPr id="150" name="Google Shape;150;p22"/>
          <p:cNvSpPr txBox="1"/>
          <p:nvPr/>
        </p:nvSpPr>
        <p:spPr>
          <a:xfrm>
            <a:off x="492750" y="4428875"/>
            <a:ext cx="8229600" cy="1311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200"/>
              </a:spcAft>
              <a:buClr>
                <a:schemeClr val="dk1"/>
              </a:buClr>
              <a:buSzPts val="1100"/>
              <a:buFont typeface="Arial"/>
              <a:buNone/>
            </a:pPr>
            <a:r>
              <a:rPr b="1" lang="en-US" sz="2100">
                <a:solidFill>
                  <a:schemeClr val="dk1"/>
                </a:solidFill>
                <a:latin typeface="Calibri"/>
                <a:ea typeface="Calibri"/>
                <a:cs typeface="Calibri"/>
                <a:sym typeface="Calibri"/>
              </a:rPr>
              <a:t>3. Fusion exists, but needs dedicated hardware.</a:t>
            </a:r>
            <a:r>
              <a:rPr lang="en-US" sz="2100">
                <a:solidFill>
                  <a:schemeClr val="dk1"/>
                </a:solidFill>
                <a:latin typeface="Calibri"/>
                <a:ea typeface="Calibri"/>
                <a:cs typeface="Calibri"/>
                <a:sym typeface="Calibri"/>
              </a:rPr>
              <a:t> iMES (Ye et al., 2026) fuses face, tongue, and pulse for 9 diseases at 92%+ accuracy, but requires a purpose-built capture device, not a smartphone.</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400"/>
              <a:buNone/>
            </a:pPr>
            <a:r>
              <a:rPr b="1" lang="en-US" sz="4000">
                <a:solidFill>
                  <a:srgbClr val="0B3D59"/>
                </a:solidFill>
              </a:rPr>
              <a:t>Gap Analysis</a:t>
            </a:r>
            <a:endParaRPr b="1" sz="4000">
              <a:solidFill>
                <a:srgbClr val="0B3D59"/>
              </a:solidFill>
            </a:endParaRPr>
          </a:p>
        </p:txBody>
      </p:sp>
      <p:sp>
        <p:nvSpPr>
          <p:cNvPr id="156" name="Google Shape;156;p23"/>
          <p:cNvSpPr txBox="1"/>
          <p:nvPr>
            <p:ph idx="1" type="body"/>
          </p:nvPr>
        </p:nvSpPr>
        <p:spPr>
          <a:xfrm>
            <a:off x="457200" y="1470527"/>
            <a:ext cx="8229600" cy="890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Clr>
                <a:schemeClr val="dk1"/>
              </a:buClr>
              <a:buSzPts val="1100"/>
              <a:buNone/>
            </a:pPr>
            <a:r>
              <a:rPr b="1" lang="en-US" sz="2000"/>
              <a:t>4. No uncertainty output.</a:t>
            </a:r>
            <a:r>
              <a:rPr lang="en-US" sz="2000"/>
              <a:t> iMES's CCA-based fusion and Asare et al.'s classifiers all return a bare label or SHAP heatmap, never a confidence score.</a:t>
            </a:r>
            <a:endParaRPr b="1" sz="2100"/>
          </a:p>
          <a:p>
            <a:pPr indent="-139700" lvl="0" marL="342900" rtl="0" algn="l">
              <a:lnSpc>
                <a:spcPct val="150000"/>
              </a:lnSpc>
              <a:spcBef>
                <a:spcPts val="1200"/>
              </a:spcBef>
              <a:spcAft>
                <a:spcPts val="0"/>
              </a:spcAft>
              <a:buClr>
                <a:schemeClr val="dk1"/>
              </a:buClr>
              <a:buSzPts val="3200"/>
              <a:buNone/>
            </a:pPr>
            <a:r>
              <a:t/>
            </a:r>
            <a:endParaRPr sz="1200">
              <a:latin typeface="Arial"/>
              <a:ea typeface="Arial"/>
              <a:cs typeface="Arial"/>
              <a:sym typeface="Arial"/>
            </a:endParaRPr>
          </a:p>
        </p:txBody>
      </p:sp>
      <p:sp>
        <p:nvSpPr>
          <p:cNvPr id="157" name="Google Shape;157;p23"/>
          <p:cNvSpPr txBox="1"/>
          <p:nvPr/>
        </p:nvSpPr>
        <p:spPr>
          <a:xfrm>
            <a:off x="478325" y="2329774"/>
            <a:ext cx="8208600" cy="1383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US" sz="2000">
                <a:solidFill>
                  <a:schemeClr val="dk1"/>
                </a:solidFill>
                <a:latin typeface="Calibri"/>
                <a:ea typeface="Calibri"/>
                <a:cs typeface="Calibri"/>
                <a:sym typeface="Calibri"/>
              </a:rPr>
              <a:t>5. Severe class imbalance, unaddressed.</a:t>
            </a:r>
            <a:r>
              <a:rPr lang="en-US" sz="2000">
                <a:solidFill>
                  <a:schemeClr val="dk1"/>
                </a:solidFill>
                <a:latin typeface="Calibri"/>
                <a:ea typeface="Calibri"/>
                <a:cs typeface="Calibri"/>
                <a:sym typeface="Calibri"/>
              </a:rPr>
              <a:t> Rabinovici-Cohen et al. (2024) report OSCC accuracy on datasets where positive samples (129) are dwarfed by negatives (700 to 1,400), with no stated imbalance strategy.</a:t>
            </a:r>
            <a:endParaRPr sz="2000">
              <a:solidFill>
                <a:schemeClr val="dk1"/>
              </a:solidFill>
              <a:latin typeface="Calibri"/>
              <a:ea typeface="Calibri"/>
              <a:cs typeface="Calibri"/>
              <a:sym typeface="Calibri"/>
            </a:endParaRPr>
          </a:p>
          <a:p>
            <a:pPr indent="0" lvl="0" marL="0" rtl="0" algn="l">
              <a:lnSpc>
                <a:spcPct val="150000"/>
              </a:lnSpc>
              <a:spcBef>
                <a:spcPts val="1200"/>
              </a:spcBef>
              <a:spcAft>
                <a:spcPts val="1200"/>
              </a:spcAft>
              <a:buNone/>
            </a:pPr>
            <a:r>
              <a:t/>
            </a:r>
            <a:endParaRPr b="1" sz="2100">
              <a:solidFill>
                <a:schemeClr val="dk1"/>
              </a:solidFill>
              <a:latin typeface="Calibri"/>
              <a:ea typeface="Calibri"/>
              <a:cs typeface="Calibri"/>
              <a:sym typeface="Calibri"/>
            </a:endParaRPr>
          </a:p>
        </p:txBody>
      </p:sp>
      <p:sp>
        <p:nvSpPr>
          <p:cNvPr id="158" name="Google Shape;158;p23"/>
          <p:cNvSpPr txBox="1"/>
          <p:nvPr/>
        </p:nvSpPr>
        <p:spPr>
          <a:xfrm>
            <a:off x="479662" y="3695959"/>
            <a:ext cx="8229600" cy="1311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US" sz="2000">
                <a:solidFill>
                  <a:schemeClr val="dk1"/>
                </a:solidFill>
                <a:latin typeface="Calibri"/>
                <a:ea typeface="Calibri"/>
                <a:cs typeface="Calibri"/>
                <a:sym typeface="Calibri"/>
              </a:rPr>
              <a:t>6. No missing-modality robustness.</a:t>
            </a:r>
            <a:r>
              <a:rPr lang="en-US" sz="2000">
                <a:solidFill>
                  <a:schemeClr val="dk1"/>
                </a:solidFill>
                <a:latin typeface="Calibri"/>
                <a:ea typeface="Calibri"/>
                <a:cs typeface="Calibri"/>
                <a:sym typeface="Calibri"/>
              </a:rPr>
              <a:t> Every reviewed system (Asare et al., iMES, single-surface classifiers) assumes all inputs are always present and well-captured.</a:t>
            </a:r>
            <a:endParaRPr sz="2000">
              <a:solidFill>
                <a:schemeClr val="dk1"/>
              </a:solidFill>
              <a:latin typeface="Calibri"/>
              <a:ea typeface="Calibri"/>
              <a:cs typeface="Calibri"/>
              <a:sym typeface="Calibri"/>
            </a:endParaRPr>
          </a:p>
          <a:p>
            <a:pPr indent="0" lvl="0" marL="0" rtl="0" algn="l">
              <a:lnSpc>
                <a:spcPct val="150000"/>
              </a:lnSpc>
              <a:spcBef>
                <a:spcPts val="1200"/>
              </a:spcBef>
              <a:spcAft>
                <a:spcPts val="1200"/>
              </a:spcAft>
              <a:buNone/>
            </a:pPr>
            <a:r>
              <a:t/>
            </a:r>
            <a:endParaRPr b="1" sz="2100">
              <a:solidFill>
                <a:schemeClr val="dk1"/>
              </a:solidFill>
              <a:latin typeface="Calibri"/>
              <a:ea typeface="Calibri"/>
              <a:cs typeface="Calibri"/>
              <a:sym typeface="Calibri"/>
            </a:endParaRPr>
          </a:p>
        </p:txBody>
      </p:sp>
      <p:sp>
        <p:nvSpPr>
          <p:cNvPr id="159" name="Google Shape;159;p23"/>
          <p:cNvSpPr txBox="1"/>
          <p:nvPr>
            <p:ph idx="1" type="body"/>
          </p:nvPr>
        </p:nvSpPr>
        <p:spPr>
          <a:xfrm>
            <a:off x="457200" y="5055376"/>
            <a:ext cx="8229600" cy="941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Clr>
                <a:schemeClr val="dk1"/>
              </a:buClr>
              <a:buSzPts val="1100"/>
              <a:buNone/>
            </a:pPr>
            <a:r>
              <a:rPr b="1" lang="en-US" sz="2000"/>
              <a:t>7. No patient-facing output.</a:t>
            </a:r>
            <a:r>
              <a:rPr lang="en-US" sz="2000"/>
              <a:t> Systems stop at a label (Asare et al.) or a technical SHAP map (iMES), not a report a patient can read.</a:t>
            </a:r>
            <a:endParaRPr b="1" sz="2000"/>
          </a:p>
          <a:p>
            <a:pPr indent="-139700" lvl="0" marL="342900" rtl="0" algn="l">
              <a:lnSpc>
                <a:spcPct val="150000"/>
              </a:lnSpc>
              <a:spcBef>
                <a:spcPts val="1200"/>
              </a:spcBef>
              <a:spcAft>
                <a:spcPts val="0"/>
              </a:spcAft>
              <a:buClr>
                <a:schemeClr val="dk1"/>
              </a:buClr>
              <a:buSzPts val="3200"/>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PROBLEM STATEMENT</a:t>
            </a:r>
            <a:endParaRPr>
              <a:solidFill>
                <a:srgbClr val="0B3D59"/>
              </a:solidFill>
            </a:endParaRPr>
          </a:p>
        </p:txBody>
      </p:sp>
      <p:sp>
        <p:nvSpPr>
          <p:cNvPr id="165" name="Google Shape;165;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PROBLEM STATEMENT</a:t>
            </a:r>
            <a:endParaRPr>
              <a:solidFill>
                <a:srgbClr val="0B3D59"/>
              </a:solidFill>
            </a:endParaRPr>
          </a:p>
        </p:txBody>
      </p:sp>
      <p:sp>
        <p:nvSpPr>
          <p:cNvPr id="171" name="Google Shape;171;p25"/>
          <p:cNvSpPr txBox="1"/>
          <p:nvPr/>
        </p:nvSpPr>
        <p:spPr>
          <a:xfrm>
            <a:off x="774200" y="1501325"/>
            <a:ext cx="7912500" cy="4268700"/>
          </a:xfrm>
          <a:prstGeom prst="rect">
            <a:avLst/>
          </a:prstGeom>
          <a:noFill/>
          <a:ln>
            <a:noFill/>
          </a:ln>
        </p:spPr>
        <p:txBody>
          <a:bodyPr anchorCtr="0" anchor="t" bIns="91425" lIns="91425" spcFirstLastPara="1" rIns="91425" wrap="square" tIns="91425">
            <a:noAutofit/>
          </a:bodyPr>
          <a:lstStyle/>
          <a:p>
            <a:pPr indent="-139700" lvl="0" marL="342900" rtl="0" algn="l">
              <a:spcBef>
                <a:spcPts val="0"/>
              </a:spcBef>
              <a:spcAft>
                <a:spcPts val="0"/>
              </a:spcAft>
              <a:buNone/>
            </a:pPr>
            <a:r>
              <a:rPr lang="en-US" sz="2400">
                <a:solidFill>
                  <a:schemeClr val="dk1"/>
                </a:solidFill>
                <a:latin typeface="Calibri"/>
                <a:ea typeface="Calibri"/>
                <a:cs typeface="Calibri"/>
                <a:sym typeface="Calibri"/>
              </a:rPr>
              <a:t>  Systemic diseases often show early visible signs on body surfaces such as the oral cavity, nails, eyes, tongue, and palms, but no existing tool screens for them together. Current approaches work on a single surface at a time, require dedicated capture hardware, or return a result with no confidence score and no explanation. As a result, patients without easy access to a clinician have no reliable way to self-screen using only a device they already own.</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PROPOSED SOLUTION AND METHODOLOGY</a:t>
            </a:r>
            <a:endParaRPr>
              <a:solidFill>
                <a:srgbClr val="0B3D59"/>
              </a:solidFill>
            </a:endParaRPr>
          </a:p>
        </p:txBody>
      </p:sp>
      <p:sp>
        <p:nvSpPr>
          <p:cNvPr id="177" name="Google Shape;177;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PROPOSED SOLUTION</a:t>
            </a:r>
            <a:endParaRPr>
              <a:solidFill>
                <a:srgbClr val="0B3D59"/>
              </a:solidFill>
            </a:endParaRPr>
          </a:p>
        </p:txBody>
      </p:sp>
      <p:sp>
        <p:nvSpPr>
          <p:cNvPr id="183" name="Google Shape;183;p27"/>
          <p:cNvSpPr txBox="1"/>
          <p:nvPr>
            <p:ph idx="1" type="body"/>
          </p:nvPr>
        </p:nvSpPr>
        <p:spPr>
          <a:xfrm>
            <a:off x="457200" y="1600200"/>
            <a:ext cx="8229600" cy="7683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Char char="○"/>
            </a:pPr>
            <a:r>
              <a:rPr lang="en-US" sz="2000"/>
              <a:t>GLANCE captures five smartphone photographs, one per body surface: oral cavity, fingernails, conjunctiva, tongue, and palm.</a:t>
            </a:r>
            <a:endParaRPr sz="2000"/>
          </a:p>
        </p:txBody>
      </p:sp>
      <p:sp>
        <p:nvSpPr>
          <p:cNvPr id="184" name="Google Shape;184;p27"/>
          <p:cNvSpPr txBox="1"/>
          <p:nvPr/>
        </p:nvSpPr>
        <p:spPr>
          <a:xfrm>
            <a:off x="449517" y="2325379"/>
            <a:ext cx="8078700" cy="11430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Calibri"/>
                <a:ea typeface="Calibri"/>
                <a:cs typeface="Calibri"/>
                <a:sym typeface="Calibri"/>
              </a:rPr>
              <a:t>Each surface is processed by its own ViT-B/16 encoder. A custom cross-modal attention fusion transformer combines the five encoder outputs into one joint assessment.</a:t>
            </a:r>
            <a:endParaRPr sz="2000">
              <a:solidFill>
                <a:schemeClr val="dk1"/>
              </a:solidFill>
              <a:latin typeface="Calibri"/>
              <a:ea typeface="Calibri"/>
              <a:cs typeface="Calibri"/>
              <a:sym typeface="Calibri"/>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
        <p:nvSpPr>
          <p:cNvPr id="185" name="Google Shape;185;p27"/>
          <p:cNvSpPr txBox="1"/>
          <p:nvPr/>
        </p:nvSpPr>
        <p:spPr>
          <a:xfrm>
            <a:off x="435104" y="3434769"/>
            <a:ext cx="7708200" cy="11430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Calibri"/>
                <a:ea typeface="Calibri"/>
                <a:cs typeface="Calibri"/>
                <a:sym typeface="Calibri"/>
              </a:rPr>
              <a:t>The system adds three things current approaches lack: a confidence score via Monte Carlo Dropout, an attention-based visual explanation of what drove the result, and robustness when a surface image is missing or low quality.</a:t>
            </a:r>
            <a:endParaRPr sz="3200">
              <a:solidFill>
                <a:schemeClr val="dk1"/>
              </a:solidFill>
              <a:latin typeface="Calibri"/>
              <a:ea typeface="Calibri"/>
              <a:cs typeface="Calibri"/>
              <a:sym typeface="Calibri"/>
            </a:endParaRPr>
          </a:p>
        </p:txBody>
      </p:sp>
      <p:sp>
        <p:nvSpPr>
          <p:cNvPr id="186" name="Google Shape;186;p27"/>
          <p:cNvSpPr txBox="1"/>
          <p:nvPr/>
        </p:nvSpPr>
        <p:spPr>
          <a:xfrm>
            <a:off x="435109" y="4918742"/>
            <a:ext cx="7708200" cy="768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Char char="○"/>
            </a:pPr>
            <a:r>
              <a:rPr lang="en-US" sz="2000">
                <a:solidFill>
                  <a:schemeClr val="dk1"/>
                </a:solidFill>
                <a:latin typeface="Calibri"/>
                <a:ea typeface="Calibri"/>
                <a:cs typeface="Calibri"/>
                <a:sym typeface="Calibri"/>
              </a:rPr>
              <a:t>The final output is a risk score with its confidence and explanation, converted into a plain-language report by an LLM.</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METHODOLOGY</a:t>
            </a:r>
            <a:endParaRPr>
              <a:solidFill>
                <a:srgbClr val="0B3D59"/>
              </a:solidFill>
            </a:endParaRPr>
          </a:p>
        </p:txBody>
      </p:sp>
      <p:sp>
        <p:nvSpPr>
          <p:cNvPr id="192" name="Google Shape;192;p28"/>
          <p:cNvSpPr/>
          <p:nvPr/>
        </p:nvSpPr>
        <p:spPr>
          <a:xfrm>
            <a:off x="457175" y="183552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8"/>
          <p:cNvSpPr/>
          <p:nvPr/>
        </p:nvSpPr>
        <p:spPr>
          <a:xfrm>
            <a:off x="457175" y="183552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Oral</a:t>
            </a:r>
            <a:endParaRPr b="0" i="0" sz="1800" u="none" cap="none" strike="noStrike">
              <a:solidFill>
                <a:srgbClr val="000000"/>
              </a:solidFill>
              <a:latin typeface="Calibri"/>
              <a:ea typeface="Calibri"/>
              <a:cs typeface="Calibri"/>
              <a:sym typeface="Calibri"/>
            </a:endParaRPr>
          </a:p>
        </p:txBody>
      </p:sp>
      <p:cxnSp>
        <p:nvCxnSpPr>
          <p:cNvPr id="194" name="Google Shape;194;p28"/>
          <p:cNvCxnSpPr/>
          <p:nvPr/>
        </p:nvCxnSpPr>
        <p:spPr>
          <a:xfrm>
            <a:off x="1949803" y="2137211"/>
            <a:ext cx="443700" cy="0"/>
          </a:xfrm>
          <a:prstGeom prst="straightConnector1">
            <a:avLst/>
          </a:prstGeom>
          <a:noFill/>
          <a:ln cap="flat" cmpd="sng" w="19050">
            <a:solidFill>
              <a:srgbClr val="1C7293"/>
            </a:solidFill>
            <a:prstDash val="solid"/>
            <a:round/>
            <a:headEnd len="sm" w="sm" type="none"/>
            <a:tailEnd len="med" w="med" type="triangle"/>
          </a:ln>
        </p:spPr>
      </p:cxnSp>
      <p:sp>
        <p:nvSpPr>
          <p:cNvPr id="195" name="Google Shape;195;p28"/>
          <p:cNvSpPr/>
          <p:nvPr/>
        </p:nvSpPr>
        <p:spPr>
          <a:xfrm>
            <a:off x="457175" y="259460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8"/>
          <p:cNvSpPr/>
          <p:nvPr/>
        </p:nvSpPr>
        <p:spPr>
          <a:xfrm>
            <a:off x="457175" y="259460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Nails</a:t>
            </a:r>
            <a:endParaRPr b="0" i="0" sz="1800" u="none" cap="none" strike="noStrike">
              <a:solidFill>
                <a:srgbClr val="000000"/>
              </a:solidFill>
              <a:latin typeface="Calibri"/>
              <a:ea typeface="Calibri"/>
              <a:cs typeface="Calibri"/>
              <a:sym typeface="Calibri"/>
            </a:endParaRPr>
          </a:p>
        </p:txBody>
      </p:sp>
      <p:cxnSp>
        <p:nvCxnSpPr>
          <p:cNvPr id="197" name="Google Shape;197;p28"/>
          <p:cNvCxnSpPr/>
          <p:nvPr/>
        </p:nvCxnSpPr>
        <p:spPr>
          <a:xfrm>
            <a:off x="1949803" y="2896291"/>
            <a:ext cx="443700" cy="0"/>
          </a:xfrm>
          <a:prstGeom prst="straightConnector1">
            <a:avLst/>
          </a:prstGeom>
          <a:noFill/>
          <a:ln cap="flat" cmpd="sng" w="19050">
            <a:solidFill>
              <a:srgbClr val="1C7293"/>
            </a:solidFill>
            <a:prstDash val="solid"/>
            <a:round/>
            <a:headEnd len="sm" w="sm" type="none"/>
            <a:tailEnd len="med" w="med" type="triangle"/>
          </a:ln>
        </p:spPr>
      </p:cxnSp>
      <p:sp>
        <p:nvSpPr>
          <p:cNvPr id="198" name="Google Shape;198;p28"/>
          <p:cNvSpPr/>
          <p:nvPr/>
        </p:nvSpPr>
        <p:spPr>
          <a:xfrm>
            <a:off x="457175" y="335368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8"/>
          <p:cNvSpPr/>
          <p:nvPr/>
        </p:nvSpPr>
        <p:spPr>
          <a:xfrm>
            <a:off x="457175" y="335368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Conjunctiva</a:t>
            </a:r>
            <a:endParaRPr b="0" i="0" sz="1800" u="none" cap="none" strike="noStrike">
              <a:solidFill>
                <a:srgbClr val="000000"/>
              </a:solidFill>
              <a:latin typeface="Calibri"/>
              <a:ea typeface="Calibri"/>
              <a:cs typeface="Calibri"/>
              <a:sym typeface="Calibri"/>
            </a:endParaRPr>
          </a:p>
        </p:txBody>
      </p:sp>
      <p:cxnSp>
        <p:nvCxnSpPr>
          <p:cNvPr id="200" name="Google Shape;200;p28"/>
          <p:cNvCxnSpPr/>
          <p:nvPr/>
        </p:nvCxnSpPr>
        <p:spPr>
          <a:xfrm>
            <a:off x="1949803" y="3655371"/>
            <a:ext cx="443700" cy="0"/>
          </a:xfrm>
          <a:prstGeom prst="straightConnector1">
            <a:avLst/>
          </a:prstGeom>
          <a:noFill/>
          <a:ln cap="flat" cmpd="sng" w="19050">
            <a:solidFill>
              <a:srgbClr val="1C7293"/>
            </a:solidFill>
            <a:prstDash val="solid"/>
            <a:round/>
            <a:headEnd len="sm" w="sm" type="none"/>
            <a:tailEnd len="med" w="med" type="triangle"/>
          </a:ln>
        </p:spPr>
      </p:cxnSp>
      <p:sp>
        <p:nvSpPr>
          <p:cNvPr id="201" name="Google Shape;201;p28"/>
          <p:cNvSpPr/>
          <p:nvPr/>
        </p:nvSpPr>
        <p:spPr>
          <a:xfrm>
            <a:off x="457175" y="411276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8"/>
          <p:cNvSpPr/>
          <p:nvPr/>
        </p:nvSpPr>
        <p:spPr>
          <a:xfrm>
            <a:off x="457175" y="411276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Tongue</a:t>
            </a:r>
            <a:endParaRPr b="0" i="0" sz="1800" u="none" cap="none" strike="noStrike">
              <a:solidFill>
                <a:srgbClr val="000000"/>
              </a:solidFill>
              <a:latin typeface="Calibri"/>
              <a:ea typeface="Calibri"/>
              <a:cs typeface="Calibri"/>
              <a:sym typeface="Calibri"/>
            </a:endParaRPr>
          </a:p>
        </p:txBody>
      </p:sp>
      <p:cxnSp>
        <p:nvCxnSpPr>
          <p:cNvPr id="203" name="Google Shape;203;p28"/>
          <p:cNvCxnSpPr/>
          <p:nvPr/>
        </p:nvCxnSpPr>
        <p:spPr>
          <a:xfrm>
            <a:off x="1949803" y="4414451"/>
            <a:ext cx="443700" cy="0"/>
          </a:xfrm>
          <a:prstGeom prst="straightConnector1">
            <a:avLst/>
          </a:prstGeom>
          <a:noFill/>
          <a:ln cap="flat" cmpd="sng" w="19050">
            <a:solidFill>
              <a:srgbClr val="1C7293"/>
            </a:solidFill>
            <a:prstDash val="solid"/>
            <a:round/>
            <a:headEnd len="sm" w="sm" type="none"/>
            <a:tailEnd len="med" w="med" type="triangle"/>
          </a:ln>
        </p:spPr>
      </p:cxnSp>
      <p:sp>
        <p:nvSpPr>
          <p:cNvPr id="204" name="Google Shape;204;p28"/>
          <p:cNvSpPr/>
          <p:nvPr/>
        </p:nvSpPr>
        <p:spPr>
          <a:xfrm>
            <a:off x="457175" y="487184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8"/>
          <p:cNvSpPr/>
          <p:nvPr/>
        </p:nvSpPr>
        <p:spPr>
          <a:xfrm>
            <a:off x="457175" y="487184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Palm</a:t>
            </a:r>
            <a:endParaRPr b="0" i="0" sz="1800" u="none" cap="none" strike="noStrike">
              <a:solidFill>
                <a:srgbClr val="000000"/>
              </a:solidFill>
              <a:latin typeface="Calibri"/>
              <a:ea typeface="Calibri"/>
              <a:cs typeface="Calibri"/>
              <a:sym typeface="Calibri"/>
            </a:endParaRPr>
          </a:p>
        </p:txBody>
      </p:sp>
      <p:cxnSp>
        <p:nvCxnSpPr>
          <p:cNvPr id="206" name="Google Shape;206;p28"/>
          <p:cNvCxnSpPr/>
          <p:nvPr/>
        </p:nvCxnSpPr>
        <p:spPr>
          <a:xfrm>
            <a:off x="1949803" y="5173530"/>
            <a:ext cx="443700" cy="0"/>
          </a:xfrm>
          <a:prstGeom prst="straightConnector1">
            <a:avLst/>
          </a:prstGeom>
          <a:noFill/>
          <a:ln cap="flat" cmpd="sng" w="19050">
            <a:solidFill>
              <a:srgbClr val="1C7293"/>
            </a:solidFill>
            <a:prstDash val="solid"/>
            <a:round/>
            <a:headEnd len="sm" w="sm" type="none"/>
            <a:tailEnd len="med" w="med" type="triangle"/>
          </a:ln>
        </p:spPr>
      </p:cxnSp>
      <p:sp>
        <p:nvSpPr>
          <p:cNvPr id="207" name="Google Shape;207;p28"/>
          <p:cNvSpPr/>
          <p:nvPr/>
        </p:nvSpPr>
        <p:spPr>
          <a:xfrm>
            <a:off x="2393557" y="183552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a:off x="2393557" y="183552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09" name="Google Shape;209;p28"/>
          <p:cNvCxnSpPr/>
          <p:nvPr/>
        </p:nvCxnSpPr>
        <p:spPr>
          <a:xfrm>
            <a:off x="4128233" y="2137211"/>
            <a:ext cx="403500" cy="0"/>
          </a:xfrm>
          <a:prstGeom prst="straightConnector1">
            <a:avLst/>
          </a:prstGeom>
          <a:noFill/>
          <a:ln cap="flat" cmpd="sng" w="19050">
            <a:solidFill>
              <a:srgbClr val="1C7293"/>
            </a:solidFill>
            <a:prstDash val="solid"/>
            <a:round/>
            <a:headEnd len="sm" w="sm" type="none"/>
            <a:tailEnd len="sm" w="sm" type="none"/>
          </a:ln>
        </p:spPr>
      </p:cxnSp>
      <p:sp>
        <p:nvSpPr>
          <p:cNvPr id="210" name="Google Shape;210;p28"/>
          <p:cNvSpPr/>
          <p:nvPr/>
        </p:nvSpPr>
        <p:spPr>
          <a:xfrm>
            <a:off x="2393557" y="259460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8"/>
          <p:cNvSpPr/>
          <p:nvPr/>
        </p:nvSpPr>
        <p:spPr>
          <a:xfrm>
            <a:off x="2393557" y="259460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12" name="Google Shape;212;p28"/>
          <p:cNvCxnSpPr/>
          <p:nvPr/>
        </p:nvCxnSpPr>
        <p:spPr>
          <a:xfrm>
            <a:off x="4128233" y="2896291"/>
            <a:ext cx="403500" cy="0"/>
          </a:xfrm>
          <a:prstGeom prst="straightConnector1">
            <a:avLst/>
          </a:prstGeom>
          <a:noFill/>
          <a:ln cap="flat" cmpd="sng" w="19050">
            <a:solidFill>
              <a:srgbClr val="1C7293"/>
            </a:solidFill>
            <a:prstDash val="solid"/>
            <a:round/>
            <a:headEnd len="sm" w="sm" type="none"/>
            <a:tailEnd len="sm" w="sm" type="none"/>
          </a:ln>
        </p:spPr>
      </p:cxnSp>
      <p:sp>
        <p:nvSpPr>
          <p:cNvPr id="213" name="Google Shape;213;p28"/>
          <p:cNvSpPr/>
          <p:nvPr/>
        </p:nvSpPr>
        <p:spPr>
          <a:xfrm>
            <a:off x="2393557" y="335368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a:off x="2393557" y="335368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15" name="Google Shape;215;p28"/>
          <p:cNvCxnSpPr/>
          <p:nvPr/>
        </p:nvCxnSpPr>
        <p:spPr>
          <a:xfrm>
            <a:off x="4128233" y="3655371"/>
            <a:ext cx="403500" cy="0"/>
          </a:xfrm>
          <a:prstGeom prst="straightConnector1">
            <a:avLst/>
          </a:prstGeom>
          <a:noFill/>
          <a:ln cap="flat" cmpd="sng" w="19050">
            <a:solidFill>
              <a:srgbClr val="1C7293"/>
            </a:solidFill>
            <a:prstDash val="solid"/>
            <a:round/>
            <a:headEnd len="sm" w="sm" type="none"/>
            <a:tailEnd len="sm" w="sm" type="none"/>
          </a:ln>
        </p:spPr>
      </p:cxnSp>
      <p:sp>
        <p:nvSpPr>
          <p:cNvPr id="216" name="Google Shape;216;p28"/>
          <p:cNvSpPr/>
          <p:nvPr/>
        </p:nvSpPr>
        <p:spPr>
          <a:xfrm>
            <a:off x="2393557" y="411276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2393557" y="411276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18" name="Google Shape;218;p28"/>
          <p:cNvCxnSpPr/>
          <p:nvPr/>
        </p:nvCxnSpPr>
        <p:spPr>
          <a:xfrm>
            <a:off x="4128233" y="4414451"/>
            <a:ext cx="403500" cy="0"/>
          </a:xfrm>
          <a:prstGeom prst="straightConnector1">
            <a:avLst/>
          </a:prstGeom>
          <a:noFill/>
          <a:ln cap="flat" cmpd="sng" w="19050">
            <a:solidFill>
              <a:srgbClr val="1C7293"/>
            </a:solidFill>
            <a:prstDash val="solid"/>
            <a:round/>
            <a:headEnd len="sm" w="sm" type="none"/>
            <a:tailEnd len="sm" w="sm" type="none"/>
          </a:ln>
        </p:spPr>
      </p:cxnSp>
      <p:sp>
        <p:nvSpPr>
          <p:cNvPr id="219" name="Google Shape;219;p28"/>
          <p:cNvSpPr/>
          <p:nvPr/>
        </p:nvSpPr>
        <p:spPr>
          <a:xfrm>
            <a:off x="2393557" y="487184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8"/>
          <p:cNvSpPr/>
          <p:nvPr/>
        </p:nvSpPr>
        <p:spPr>
          <a:xfrm>
            <a:off x="2393557" y="487184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21" name="Google Shape;221;p28"/>
          <p:cNvCxnSpPr/>
          <p:nvPr/>
        </p:nvCxnSpPr>
        <p:spPr>
          <a:xfrm>
            <a:off x="4128233" y="5173530"/>
            <a:ext cx="403500" cy="0"/>
          </a:xfrm>
          <a:prstGeom prst="straightConnector1">
            <a:avLst/>
          </a:prstGeom>
          <a:noFill/>
          <a:ln cap="flat" cmpd="sng" w="19050">
            <a:solidFill>
              <a:srgbClr val="1C7293"/>
            </a:solidFill>
            <a:prstDash val="solid"/>
            <a:round/>
            <a:headEnd len="sm" w="sm" type="none"/>
            <a:tailEnd len="sm" w="sm" type="none"/>
          </a:ln>
        </p:spPr>
      </p:cxnSp>
      <p:cxnSp>
        <p:nvCxnSpPr>
          <p:cNvPr id="222" name="Google Shape;222;p28"/>
          <p:cNvCxnSpPr/>
          <p:nvPr/>
        </p:nvCxnSpPr>
        <p:spPr>
          <a:xfrm>
            <a:off x="4530839" y="2137211"/>
            <a:ext cx="900" cy="1518300"/>
          </a:xfrm>
          <a:prstGeom prst="straightConnector1">
            <a:avLst/>
          </a:prstGeom>
          <a:noFill/>
          <a:ln cap="flat" cmpd="sng" w="12700">
            <a:solidFill>
              <a:srgbClr val="02C39A"/>
            </a:solidFill>
            <a:prstDash val="dot"/>
            <a:round/>
            <a:headEnd len="sm" w="sm" type="none"/>
            <a:tailEnd len="sm" w="sm" type="none"/>
          </a:ln>
        </p:spPr>
      </p:cxnSp>
      <p:cxnSp>
        <p:nvCxnSpPr>
          <p:cNvPr id="223" name="Google Shape;223;p28"/>
          <p:cNvCxnSpPr/>
          <p:nvPr/>
        </p:nvCxnSpPr>
        <p:spPr>
          <a:xfrm>
            <a:off x="4530839" y="2896291"/>
            <a:ext cx="900" cy="759000"/>
          </a:xfrm>
          <a:prstGeom prst="straightConnector1">
            <a:avLst/>
          </a:prstGeom>
          <a:noFill/>
          <a:ln cap="flat" cmpd="sng" w="12700">
            <a:solidFill>
              <a:srgbClr val="02C39A"/>
            </a:solidFill>
            <a:prstDash val="dot"/>
            <a:round/>
            <a:headEnd len="sm" w="sm" type="none"/>
            <a:tailEnd len="sm" w="sm" type="none"/>
          </a:ln>
        </p:spPr>
      </p:cxnSp>
      <p:cxnSp>
        <p:nvCxnSpPr>
          <p:cNvPr id="224" name="Google Shape;224;p28"/>
          <p:cNvCxnSpPr/>
          <p:nvPr/>
        </p:nvCxnSpPr>
        <p:spPr>
          <a:xfrm>
            <a:off x="4530839" y="3655371"/>
            <a:ext cx="900" cy="0"/>
          </a:xfrm>
          <a:prstGeom prst="straightConnector1">
            <a:avLst/>
          </a:prstGeom>
          <a:noFill/>
          <a:ln cap="flat" cmpd="sng" w="12700">
            <a:solidFill>
              <a:srgbClr val="02C39A"/>
            </a:solidFill>
            <a:prstDash val="dot"/>
            <a:round/>
            <a:headEnd len="sm" w="sm" type="none"/>
            <a:tailEnd len="sm" w="sm" type="none"/>
          </a:ln>
        </p:spPr>
      </p:cxnSp>
      <p:cxnSp>
        <p:nvCxnSpPr>
          <p:cNvPr id="225" name="Google Shape;225;p28"/>
          <p:cNvCxnSpPr/>
          <p:nvPr/>
        </p:nvCxnSpPr>
        <p:spPr>
          <a:xfrm flipH="1" rot="10800000">
            <a:off x="4530839" y="3655451"/>
            <a:ext cx="900" cy="759000"/>
          </a:xfrm>
          <a:prstGeom prst="straightConnector1">
            <a:avLst/>
          </a:prstGeom>
          <a:noFill/>
          <a:ln cap="flat" cmpd="sng" w="12700">
            <a:solidFill>
              <a:srgbClr val="02C39A"/>
            </a:solidFill>
            <a:prstDash val="dot"/>
            <a:round/>
            <a:headEnd len="sm" w="sm" type="none"/>
            <a:tailEnd len="sm" w="sm" type="none"/>
          </a:ln>
        </p:spPr>
      </p:cxnSp>
      <p:cxnSp>
        <p:nvCxnSpPr>
          <p:cNvPr id="226" name="Google Shape;226;p28"/>
          <p:cNvCxnSpPr/>
          <p:nvPr/>
        </p:nvCxnSpPr>
        <p:spPr>
          <a:xfrm flipH="1" rot="10800000">
            <a:off x="4530839" y="3655230"/>
            <a:ext cx="900" cy="1518300"/>
          </a:xfrm>
          <a:prstGeom prst="straightConnector1">
            <a:avLst/>
          </a:prstGeom>
          <a:noFill/>
          <a:ln cap="flat" cmpd="sng" w="12700">
            <a:solidFill>
              <a:srgbClr val="02C39A"/>
            </a:solidFill>
            <a:prstDash val="dot"/>
            <a:round/>
            <a:headEnd len="sm" w="sm" type="none"/>
            <a:tailEnd len="sm" w="sm" type="none"/>
          </a:ln>
        </p:spPr>
      </p:cxnSp>
      <p:sp>
        <p:nvSpPr>
          <p:cNvPr id="227" name="Google Shape;227;p28"/>
          <p:cNvSpPr/>
          <p:nvPr/>
        </p:nvSpPr>
        <p:spPr>
          <a:xfrm>
            <a:off x="4531646" y="1835525"/>
            <a:ext cx="2178600" cy="3639900"/>
          </a:xfrm>
          <a:prstGeom prst="roundRect">
            <a:avLst>
              <a:gd fmla="val 2963" name="adj"/>
            </a:avLst>
          </a:prstGeom>
          <a:solidFill>
            <a:srgbClr val="0B3D59"/>
          </a:solidFill>
          <a:ln>
            <a:noFill/>
          </a:ln>
          <a:effectLst>
            <a:outerShdw blurRad="76200" rotWithShape="0" algn="bl" dir="54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8"/>
          <p:cNvSpPr/>
          <p:nvPr/>
        </p:nvSpPr>
        <p:spPr>
          <a:xfrm>
            <a:off x="4612328" y="1835525"/>
            <a:ext cx="2017200" cy="3639900"/>
          </a:xfrm>
          <a:prstGeom prst="rect">
            <a:avLst/>
          </a:prstGeom>
          <a:noFill/>
          <a:ln>
            <a:noFill/>
          </a:ln>
        </p:spPr>
        <p:txBody>
          <a:bodyPr anchorCtr="0" anchor="ctr" bIns="45700" lIns="91425" spcFirstLastPara="1" rIns="91425" wrap="square" tIns="45700">
            <a:noAutofit/>
          </a:bodyPr>
          <a:lstStyle/>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Cross-Modal</a:t>
            </a:r>
            <a:endParaRPr b="0" i="0" sz="1600" u="none" cap="none" strike="noStrike">
              <a:solidFill>
                <a:srgbClr val="000000"/>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Attention</a:t>
            </a:r>
            <a:endParaRPr b="0" i="0" sz="1600" u="none" cap="none" strike="noStrike">
              <a:solidFill>
                <a:srgbClr val="000000"/>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Fusion</a:t>
            </a:r>
            <a:endParaRPr b="0" i="0" sz="1600" u="none" cap="none" strike="noStrike">
              <a:solidFill>
                <a:srgbClr val="000000"/>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Transformer</a:t>
            </a:r>
            <a:endParaRPr b="0" i="0" sz="1600" u="none" cap="none" strike="noStrike">
              <a:solidFill>
                <a:srgbClr val="000000"/>
              </a:solidFill>
              <a:latin typeface="Calibri"/>
              <a:ea typeface="Calibri"/>
              <a:cs typeface="Calibri"/>
              <a:sym typeface="Calibri"/>
            </a:endParaRPr>
          </a:p>
        </p:txBody>
      </p:sp>
      <p:cxnSp>
        <p:nvCxnSpPr>
          <p:cNvPr id="229" name="Google Shape;229;p28"/>
          <p:cNvCxnSpPr/>
          <p:nvPr/>
        </p:nvCxnSpPr>
        <p:spPr>
          <a:xfrm>
            <a:off x="6710076" y="3655371"/>
            <a:ext cx="403500" cy="0"/>
          </a:xfrm>
          <a:prstGeom prst="straightConnector1">
            <a:avLst/>
          </a:prstGeom>
          <a:noFill/>
          <a:ln cap="flat" cmpd="sng" w="19050">
            <a:solidFill>
              <a:srgbClr val="1C7293"/>
            </a:solidFill>
            <a:prstDash val="solid"/>
            <a:round/>
            <a:headEnd len="sm" w="sm" type="none"/>
            <a:tailEnd len="med" w="med" type="triangle"/>
          </a:ln>
        </p:spPr>
      </p:cxnSp>
      <p:sp>
        <p:nvSpPr>
          <p:cNvPr id="230" name="Google Shape;230;p28"/>
          <p:cNvSpPr/>
          <p:nvPr/>
        </p:nvSpPr>
        <p:spPr>
          <a:xfrm>
            <a:off x="7113489" y="183552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8"/>
          <p:cNvSpPr/>
          <p:nvPr/>
        </p:nvSpPr>
        <p:spPr>
          <a:xfrm>
            <a:off x="7113489" y="183552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Risk score</a:t>
            </a:r>
            <a:endParaRPr b="0" i="0" sz="1600" u="none" cap="none" strike="noStrike">
              <a:solidFill>
                <a:srgbClr val="000000"/>
              </a:solidFill>
              <a:latin typeface="Calibri"/>
              <a:ea typeface="Calibri"/>
              <a:cs typeface="Calibri"/>
              <a:sym typeface="Calibri"/>
            </a:endParaRPr>
          </a:p>
        </p:txBody>
      </p:sp>
      <p:sp>
        <p:nvSpPr>
          <p:cNvPr id="232" name="Google Shape;232;p28"/>
          <p:cNvSpPr/>
          <p:nvPr/>
        </p:nvSpPr>
        <p:spPr>
          <a:xfrm>
            <a:off x="7113489" y="278437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8"/>
          <p:cNvSpPr/>
          <p:nvPr/>
        </p:nvSpPr>
        <p:spPr>
          <a:xfrm>
            <a:off x="7113489" y="278437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Uncertainty</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(MC Dropout)</a:t>
            </a:r>
            <a:endParaRPr b="0" i="0" sz="1600" u="none" cap="none" strike="noStrike">
              <a:solidFill>
                <a:srgbClr val="000000"/>
              </a:solidFill>
              <a:latin typeface="Calibri"/>
              <a:ea typeface="Calibri"/>
              <a:cs typeface="Calibri"/>
              <a:sym typeface="Calibri"/>
            </a:endParaRPr>
          </a:p>
        </p:txBody>
      </p:sp>
      <p:sp>
        <p:nvSpPr>
          <p:cNvPr id="234" name="Google Shape;234;p28"/>
          <p:cNvSpPr/>
          <p:nvPr/>
        </p:nvSpPr>
        <p:spPr>
          <a:xfrm>
            <a:off x="7113489" y="373322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p:nvPr/>
        </p:nvSpPr>
        <p:spPr>
          <a:xfrm>
            <a:off x="7113489" y="373322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lang="en-US" sz="1600">
                <a:solidFill>
                  <a:srgbClr val="0B3D59"/>
                </a:solidFill>
                <a:latin typeface="Calibri"/>
                <a:ea typeface="Calibri"/>
                <a:cs typeface="Calibri"/>
                <a:sym typeface="Calibri"/>
              </a:rPr>
              <a:t>Attention map</a:t>
            </a:r>
            <a:endParaRPr b="0" i="0" sz="1600" u="none" cap="none" strike="noStrike">
              <a:solidFill>
                <a:srgbClr val="000000"/>
              </a:solidFill>
              <a:latin typeface="Calibri"/>
              <a:ea typeface="Calibri"/>
              <a:cs typeface="Calibri"/>
              <a:sym typeface="Calibri"/>
            </a:endParaRPr>
          </a:p>
        </p:txBody>
      </p:sp>
      <p:sp>
        <p:nvSpPr>
          <p:cNvPr id="236" name="Google Shape;236;p28"/>
          <p:cNvSpPr/>
          <p:nvPr/>
        </p:nvSpPr>
        <p:spPr>
          <a:xfrm>
            <a:off x="7113489" y="468207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8"/>
          <p:cNvSpPr/>
          <p:nvPr/>
        </p:nvSpPr>
        <p:spPr>
          <a:xfrm>
            <a:off x="7113489" y="468207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LLM patient</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report</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PROJECT SCOPE</a:t>
            </a:r>
            <a:endParaRPr>
              <a:solidFill>
                <a:srgbClr val="0B3D59"/>
              </a:solidFill>
            </a:endParaRPr>
          </a:p>
        </p:txBody>
      </p:sp>
      <p:sp>
        <p:nvSpPr>
          <p:cNvPr id="243" name="Google Shape;243;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PROJECT SCOPE</a:t>
            </a:r>
            <a:endParaRPr/>
          </a:p>
        </p:txBody>
      </p:sp>
      <p:sp>
        <p:nvSpPr>
          <p:cNvPr id="249" name="Google Shape;249;p30"/>
          <p:cNvSpPr txBox="1"/>
          <p:nvPr>
            <p:ph idx="1" type="body"/>
          </p:nvPr>
        </p:nvSpPr>
        <p:spPr>
          <a:xfrm>
            <a:off x="457200" y="1268826"/>
            <a:ext cx="8229600" cy="4526100"/>
          </a:xfrm>
          <a:prstGeom prst="rect">
            <a:avLst/>
          </a:prstGeom>
          <a:noFill/>
          <a:ln>
            <a:noFill/>
          </a:ln>
        </p:spPr>
        <p:txBody>
          <a:bodyPr anchorCtr="0" anchor="t" bIns="45700" lIns="91425" spcFirstLastPara="1" rIns="91425" wrap="square" tIns="45700">
            <a:noAutofit/>
          </a:bodyPr>
          <a:lstStyle/>
          <a:p>
            <a:pPr indent="-355600" lvl="0" marL="457200" rtl="0" algn="l">
              <a:lnSpc>
                <a:spcPct val="150000"/>
              </a:lnSpc>
              <a:spcBef>
                <a:spcPts val="0"/>
              </a:spcBef>
              <a:spcAft>
                <a:spcPts val="0"/>
              </a:spcAft>
              <a:buSzPts val="2000"/>
              <a:buChar char="○"/>
            </a:pPr>
            <a:r>
              <a:rPr lang="en-US" sz="2000"/>
              <a:t>Image capture and preprocessing for multiple body surfaces: oral cavity, fingernails, conjunctiva, tongue, palm</a:t>
            </a:r>
            <a:endParaRPr sz="2000"/>
          </a:p>
          <a:p>
            <a:pPr indent="-355600" lvl="0" marL="457200" rtl="0" algn="l">
              <a:lnSpc>
                <a:spcPct val="150000"/>
              </a:lnSpc>
              <a:spcBef>
                <a:spcPts val="0"/>
              </a:spcBef>
              <a:spcAft>
                <a:spcPts val="0"/>
              </a:spcAft>
              <a:buSzPts val="2000"/>
              <a:buChar char="○"/>
            </a:pPr>
            <a:r>
              <a:rPr lang="en-US" sz="2000"/>
              <a:t>Five specialist ViT-B/16 encoders, one per surface</a:t>
            </a:r>
            <a:endParaRPr sz="2000"/>
          </a:p>
          <a:p>
            <a:pPr indent="-355600" lvl="0" marL="457200" rtl="0" algn="l">
              <a:lnSpc>
                <a:spcPct val="150000"/>
              </a:lnSpc>
              <a:spcBef>
                <a:spcPts val="0"/>
              </a:spcBef>
              <a:spcAft>
                <a:spcPts val="0"/>
              </a:spcAft>
              <a:buSzPts val="2000"/>
              <a:buChar char="○"/>
            </a:pPr>
            <a:r>
              <a:rPr lang="en-US" sz="2000"/>
              <a:t>Custom cross-modal attention fusion transformer, built in PyTorch</a:t>
            </a:r>
            <a:endParaRPr sz="2000"/>
          </a:p>
          <a:p>
            <a:pPr indent="-355600" lvl="0" marL="457200" rtl="0" algn="l">
              <a:lnSpc>
                <a:spcPct val="150000"/>
              </a:lnSpc>
              <a:spcBef>
                <a:spcPts val="0"/>
              </a:spcBef>
              <a:spcAft>
                <a:spcPts val="0"/>
              </a:spcAft>
              <a:buSzPts val="2000"/>
              <a:buChar char="○"/>
            </a:pPr>
            <a:r>
              <a:rPr lang="en-US" sz="2000"/>
              <a:t>Monte Carlo Dropout for uncertainty estimation</a:t>
            </a:r>
            <a:endParaRPr sz="2000"/>
          </a:p>
          <a:p>
            <a:pPr indent="-355600" lvl="0" marL="457200" rtl="0" algn="l">
              <a:lnSpc>
                <a:spcPct val="150000"/>
              </a:lnSpc>
              <a:spcBef>
                <a:spcPts val="0"/>
              </a:spcBef>
              <a:spcAft>
                <a:spcPts val="0"/>
              </a:spcAft>
              <a:buSzPts val="2000"/>
              <a:buChar char="○"/>
            </a:pPr>
            <a:r>
              <a:rPr lang="en-US" sz="2000"/>
              <a:t>Attention-based explainability </a:t>
            </a:r>
            <a:endParaRPr sz="2000"/>
          </a:p>
          <a:p>
            <a:pPr indent="-355600" lvl="0" marL="457200" rtl="0" algn="l">
              <a:lnSpc>
                <a:spcPct val="150000"/>
              </a:lnSpc>
              <a:spcBef>
                <a:spcPts val="0"/>
              </a:spcBef>
              <a:spcAft>
                <a:spcPts val="0"/>
              </a:spcAft>
              <a:buSzPts val="2000"/>
              <a:buChar char="○"/>
            </a:pPr>
            <a:r>
              <a:rPr lang="en-US" sz="2000"/>
              <a:t>Missing-modality robustness handling</a:t>
            </a:r>
            <a:endParaRPr sz="2000"/>
          </a:p>
          <a:p>
            <a:pPr indent="-355600" lvl="0" marL="457200" rtl="0" algn="l">
              <a:lnSpc>
                <a:spcPct val="150000"/>
              </a:lnSpc>
              <a:spcBef>
                <a:spcPts val="0"/>
              </a:spcBef>
              <a:spcAft>
                <a:spcPts val="0"/>
              </a:spcAft>
              <a:buSzPts val="2000"/>
              <a:buChar char="○"/>
            </a:pPr>
            <a:r>
              <a:rPr lang="en-US" sz="2000"/>
              <a:t>LLM-generated, patient-readable summary report</a:t>
            </a:r>
            <a:endParaRPr sz="2000"/>
          </a:p>
          <a:p>
            <a:pPr indent="-355600" lvl="0" marL="457200" rtl="0" algn="l">
              <a:lnSpc>
                <a:spcPct val="150000"/>
              </a:lnSpc>
              <a:spcBef>
                <a:spcPts val="0"/>
              </a:spcBef>
              <a:spcAft>
                <a:spcPts val="0"/>
              </a:spcAft>
              <a:buSzPts val="2000"/>
              <a:buChar char="○"/>
            </a:pPr>
            <a:r>
              <a:rPr lang="en-US" sz="2000"/>
              <a:t>Evaluation on public datasets: Piyarathne, Flügge et al. 2023 (Berlin OSCC), Rabinovici-Cohen et al. 2024</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Work Breakdown </a:t>
            </a:r>
            <a:r>
              <a:rPr lang="en-US">
                <a:solidFill>
                  <a:srgbClr val="0B3D59"/>
                </a:solidFill>
              </a:rPr>
              <a:t>&amp; Structure</a:t>
            </a:r>
            <a:endParaRPr>
              <a:solidFill>
                <a:srgbClr val="0B3D59"/>
              </a:solidFill>
            </a:endParaRPr>
          </a:p>
        </p:txBody>
      </p:sp>
      <p:sp>
        <p:nvSpPr>
          <p:cNvPr id="255" name="Google Shape;255;p31"/>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Work Breakdown</a:t>
            </a:r>
            <a:endParaRPr/>
          </a:p>
        </p:txBody>
      </p:sp>
      <p:sp>
        <p:nvSpPr>
          <p:cNvPr id="261" name="Google Shape;261;p32"/>
          <p:cNvSpPr txBox="1"/>
          <p:nvPr/>
        </p:nvSpPr>
        <p:spPr>
          <a:xfrm>
            <a:off x="342900" y="1418725"/>
            <a:ext cx="8343900" cy="429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US" sz="2000">
                <a:solidFill>
                  <a:schemeClr val="dk1"/>
                </a:solidFill>
              </a:rPr>
              <a:t>Phase 1: Proposal &amp; Literature Foundation:</a:t>
            </a:r>
            <a:r>
              <a:rPr lang="en-US" sz="2000">
                <a:solidFill>
                  <a:schemeClr val="dk1"/>
                </a:solidFill>
              </a:rPr>
              <a:t> Weeks 1-4</a:t>
            </a:r>
            <a:br>
              <a:rPr lang="en-US" sz="2000">
                <a:solidFill>
                  <a:schemeClr val="dk1"/>
                </a:solidFill>
              </a:rPr>
            </a:br>
            <a:r>
              <a:rPr lang="en-US" sz="2000">
                <a:solidFill>
                  <a:schemeClr val="dk1"/>
                </a:solidFill>
              </a:rPr>
              <a:t>Finalize literature review, gap analysis, problem statement. Build and deliver proposal presentation.</a:t>
            </a:r>
            <a:endParaRPr i="1" sz="20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b="1" lang="en-US" sz="2000">
                <a:solidFill>
                  <a:schemeClr val="dk1"/>
                </a:solidFill>
              </a:rPr>
              <a:t>Phase 2: Data Pipeline &amp; Preprocessing:</a:t>
            </a:r>
            <a:r>
              <a:rPr lang="en-US" sz="2000">
                <a:solidFill>
                  <a:schemeClr val="dk1"/>
                </a:solidFill>
              </a:rPr>
              <a:t> Weeks 5-7</a:t>
            </a:r>
            <a:br>
              <a:rPr lang="en-US" sz="2000">
                <a:solidFill>
                  <a:schemeClr val="dk1"/>
                </a:solidFill>
              </a:rPr>
            </a:br>
            <a:r>
              <a:rPr lang="en-US" sz="2000">
                <a:solidFill>
                  <a:schemeClr val="dk1"/>
                </a:solidFill>
              </a:rPr>
              <a:t>Collect and standardize all five modality datasets. Address class imbalance. Build train/validation/test splits.</a:t>
            </a:r>
            <a:endParaRPr sz="20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b="1" lang="en-US" sz="2000">
                <a:solidFill>
                  <a:schemeClr val="dk1"/>
                </a:solidFill>
              </a:rPr>
              <a:t>Phase 3: Encoder &amp; Fusion Development:</a:t>
            </a:r>
            <a:r>
              <a:rPr lang="en-US" sz="2000">
                <a:solidFill>
                  <a:schemeClr val="dk1"/>
                </a:solidFill>
              </a:rPr>
              <a:t> Weeks 8-10</a:t>
            </a:r>
            <a:br>
              <a:rPr lang="en-US" sz="2000">
                <a:solidFill>
                  <a:schemeClr val="dk1"/>
                </a:solidFill>
              </a:rPr>
            </a:br>
            <a:r>
              <a:rPr lang="en-US" sz="2000">
                <a:solidFill>
                  <a:schemeClr val="dk1"/>
                </a:solidFill>
              </a:rPr>
              <a:t>Train five ViT-B/16 specialist encoders. Implement and tune the cross-modal attention fusion transformer.</a:t>
            </a:r>
            <a:endParaRPr i="1" sz="2000">
              <a:solidFill>
                <a:schemeClr val="dk1"/>
              </a:solidFill>
            </a:endParaRPr>
          </a:p>
          <a:p>
            <a:pPr indent="0" lvl="0" marL="0" rtl="0" algn="l">
              <a:spcBef>
                <a:spcPts val="120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Work Breakdown</a:t>
            </a:r>
            <a:endParaRPr/>
          </a:p>
        </p:txBody>
      </p:sp>
      <p:sp>
        <p:nvSpPr>
          <p:cNvPr id="267" name="Google Shape;267;p33"/>
          <p:cNvSpPr txBox="1"/>
          <p:nvPr/>
        </p:nvSpPr>
        <p:spPr>
          <a:xfrm>
            <a:off x="342900" y="1418725"/>
            <a:ext cx="8343900" cy="429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b="1" lang="en-US" sz="2000">
                <a:solidFill>
                  <a:schemeClr val="dk1"/>
                </a:solidFill>
              </a:rPr>
              <a:t>Phase 4: Uncertainty &amp; Explainability:</a:t>
            </a:r>
            <a:r>
              <a:rPr lang="en-US" sz="2000">
                <a:solidFill>
                  <a:schemeClr val="dk1"/>
                </a:solidFill>
              </a:rPr>
              <a:t> Weeks 11-13</a:t>
            </a:r>
            <a:br>
              <a:rPr lang="en-US" sz="2000">
                <a:solidFill>
                  <a:schemeClr val="dk1"/>
                </a:solidFill>
              </a:rPr>
            </a:br>
            <a:r>
              <a:rPr lang="en-US" sz="2000">
                <a:solidFill>
                  <a:schemeClr val="dk1"/>
                </a:solidFill>
              </a:rPr>
              <a:t>Integrate Monte Carlo Dropout for confidence estimation. Implement attention-based explainability. Add missing-modality robustness handling.</a:t>
            </a:r>
            <a:endParaRPr sz="2000">
              <a:solidFill>
                <a:schemeClr val="dk1"/>
              </a:solidFill>
            </a:endParaRPr>
          </a:p>
          <a:p>
            <a:pPr indent="0" lvl="0" marL="0" rtl="0" algn="l">
              <a:lnSpc>
                <a:spcPct val="150000"/>
              </a:lnSpc>
              <a:spcBef>
                <a:spcPts val="1200"/>
              </a:spcBef>
              <a:spcAft>
                <a:spcPts val="0"/>
              </a:spcAft>
              <a:buClr>
                <a:schemeClr val="dk1"/>
              </a:buClr>
              <a:buSzPts val="1100"/>
              <a:buFont typeface="Arial"/>
              <a:buNone/>
            </a:pPr>
            <a:r>
              <a:rPr b="1" lang="en-US" sz="2000">
                <a:solidFill>
                  <a:schemeClr val="dk1"/>
                </a:solidFill>
              </a:rPr>
              <a:t>Phase 5: Evaluation &amp; Report Generation:</a:t>
            </a:r>
            <a:r>
              <a:rPr lang="en-US" sz="2000">
                <a:solidFill>
                  <a:schemeClr val="dk1"/>
                </a:solidFill>
              </a:rPr>
              <a:t> Weeks 14-16</a:t>
            </a:r>
            <a:br>
              <a:rPr lang="en-US" sz="2000">
                <a:solidFill>
                  <a:schemeClr val="dk1"/>
                </a:solidFill>
              </a:rPr>
            </a:br>
            <a:r>
              <a:rPr lang="en-US" sz="2000">
                <a:solidFill>
                  <a:schemeClr val="dk1"/>
                </a:solidFill>
              </a:rPr>
              <a:t>Benchmark against literature baselines. Build the LLM patient-report module. Finalize documentation.</a:t>
            </a:r>
            <a:endParaRPr i="1" sz="2000">
              <a:solidFill>
                <a:schemeClr val="dk1"/>
              </a:solidFill>
            </a:endParaRPr>
          </a:p>
          <a:p>
            <a:pPr indent="0" lvl="0" marL="0" rtl="0" algn="l">
              <a:lnSpc>
                <a:spcPct val="150000"/>
              </a:lnSpc>
              <a:spcBef>
                <a:spcPts val="1200"/>
              </a:spcBef>
              <a:spcAft>
                <a:spcPts val="1200"/>
              </a:spcAft>
              <a:buClr>
                <a:schemeClr val="dk1"/>
              </a:buClr>
              <a:buSzPts val="1100"/>
              <a:buFont typeface="Arial"/>
              <a:buNone/>
            </a:pPr>
            <a:r>
              <a:rPr b="1" lang="en-US" sz="2000">
                <a:solidFill>
                  <a:schemeClr val="dk1"/>
                </a:solidFill>
              </a:rPr>
              <a:t>Phase 6: Part 1 Defense Prep:</a:t>
            </a:r>
            <a:r>
              <a:rPr lang="en-US" sz="2000">
                <a:solidFill>
                  <a:schemeClr val="dk1"/>
                </a:solidFill>
              </a:rPr>
              <a:t> After Finals</a:t>
            </a:r>
            <a:br>
              <a:rPr lang="en-US" sz="2000">
                <a:solidFill>
                  <a:schemeClr val="dk1"/>
                </a:solidFill>
              </a:rPr>
            </a:br>
            <a:r>
              <a:rPr lang="en-US" sz="2000">
                <a:solidFill>
                  <a:schemeClr val="dk1"/>
                </a:solidFill>
              </a:rPr>
              <a:t>Rehearse and deliver Part 1 Defense</a:t>
            </a:r>
            <a:endParaRPr b="1" sz="20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00"/>
              <a:buNone/>
            </a:pPr>
            <a:r>
              <a:rPr b="0" lang="en-US" sz="4400">
                <a:solidFill>
                  <a:srgbClr val="0B3D59"/>
                </a:solidFill>
              </a:rPr>
              <a:t>Roles &amp; Responsibilities</a:t>
            </a:r>
            <a:endParaRPr/>
          </a:p>
        </p:txBody>
      </p:sp>
      <p:sp>
        <p:nvSpPr>
          <p:cNvPr id="273" name="Google Shape;273;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Roles &amp; Responsibilities</a:t>
            </a:r>
            <a:endParaRPr>
              <a:solidFill>
                <a:srgbClr val="0B3D59"/>
              </a:solidFill>
            </a:endParaRPr>
          </a:p>
        </p:txBody>
      </p:sp>
      <p:graphicFrame>
        <p:nvGraphicFramePr>
          <p:cNvPr id="279" name="Google Shape;279;p35"/>
          <p:cNvGraphicFramePr/>
          <p:nvPr/>
        </p:nvGraphicFramePr>
        <p:xfrm>
          <a:off x="457200" y="1556325"/>
          <a:ext cx="3000000" cy="3000000"/>
        </p:xfrm>
        <a:graphic>
          <a:graphicData uri="http://schemas.openxmlformats.org/drawingml/2006/table">
            <a:tbl>
              <a:tblPr>
                <a:noFill/>
                <a:tableStyleId>{A86E29F2-8678-437A-8A81-A00D8066E49F}</a:tableStyleId>
              </a:tblPr>
              <a:tblGrid>
                <a:gridCol w="2720975"/>
                <a:gridCol w="2720975"/>
                <a:gridCol w="2720975"/>
              </a:tblGrid>
              <a:tr h="469075">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Member</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Role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Responsibilities</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627200">
                <a:tc>
                  <a:txBody>
                    <a:bodyPr/>
                    <a:lstStyle/>
                    <a:p>
                      <a:pPr indent="0" lvl="0" marL="0" rtl="0" algn="l">
                        <a:lnSpc>
                          <a:spcPct val="150000"/>
                        </a:lnSpc>
                        <a:spcBef>
                          <a:spcPts val="0"/>
                        </a:spcBef>
                        <a:spcAft>
                          <a:spcPts val="0"/>
                        </a:spcAft>
                        <a:buNone/>
                      </a:pPr>
                      <a:r>
                        <a:rPr b="1" lang="en-US" sz="1800">
                          <a:latin typeface="Calibri"/>
                          <a:ea typeface="Calibri"/>
                          <a:cs typeface="Calibri"/>
                          <a:sym typeface="Calibri"/>
                        </a:rPr>
                        <a:t>Jaffar</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Project Lead + Oral Cavity Pipeline + Fusion Lead</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Oral cavity pipeline; cross-modal fusion; </a:t>
                      </a:r>
                      <a:endParaRPr sz="1800">
                        <a:latin typeface="Calibri"/>
                        <a:ea typeface="Calibri"/>
                        <a:cs typeface="Calibri"/>
                        <a:sym typeface="Calibri"/>
                      </a:endParaRPr>
                    </a:p>
                    <a:p>
                      <a:pPr indent="0" lvl="0" marL="0" rtl="0" algn="l">
                        <a:lnSpc>
                          <a:spcPct val="150000"/>
                        </a:lnSpc>
                        <a:spcBef>
                          <a:spcPts val="0"/>
                        </a:spcBef>
                        <a:spcAft>
                          <a:spcPts val="0"/>
                        </a:spcAft>
                        <a:buNone/>
                      </a:pPr>
                      <a:r>
                        <a:rPr lang="en-US" sz="1800">
                          <a:latin typeface="Calibri"/>
                          <a:ea typeface="Calibri"/>
                          <a:cs typeface="Calibri"/>
                          <a:sym typeface="Calibri"/>
                        </a:rPr>
                        <a:t>backend API;</a:t>
                      </a:r>
                      <a:endParaRPr sz="1800">
                        <a:latin typeface="Calibri"/>
                        <a:ea typeface="Calibri"/>
                        <a:cs typeface="Calibri"/>
                        <a:sym typeface="Calibri"/>
                      </a:endParaRPr>
                    </a:p>
                    <a:p>
                      <a:pPr indent="0" lvl="0" marL="0" rtl="0" algn="l">
                        <a:lnSpc>
                          <a:spcPct val="150000"/>
                        </a:lnSpc>
                        <a:spcBef>
                          <a:spcPts val="0"/>
                        </a:spcBef>
                        <a:spcAft>
                          <a:spcPts val="0"/>
                        </a:spcAft>
                        <a:buNone/>
                      </a:pPr>
                      <a:r>
                        <a:rPr lang="en-US" sz="1800">
                          <a:latin typeface="Calibri"/>
                          <a:ea typeface="Calibri"/>
                          <a:cs typeface="Calibri"/>
                          <a:sym typeface="Calibri"/>
                        </a:rPr>
                        <a:t>overall coordination</a:t>
                      </a:r>
                      <a:endParaRPr sz="1800">
                        <a:latin typeface="Calibri"/>
                        <a:ea typeface="Calibri"/>
                        <a:cs typeface="Calibri"/>
                        <a:sym typeface="Calibri"/>
                      </a:endParaRPr>
                    </a:p>
                  </a:txBody>
                  <a:tcPr marT="91425" marB="91425" marR="91425" marL="91425"/>
                </a:tc>
              </a:tr>
              <a:tr h="1140625">
                <a:tc>
                  <a:txBody>
                    <a:bodyPr/>
                    <a:lstStyle/>
                    <a:p>
                      <a:pPr indent="0" lvl="0" marL="0" rtl="0" algn="l">
                        <a:lnSpc>
                          <a:spcPct val="150000"/>
                        </a:lnSpc>
                        <a:spcBef>
                          <a:spcPts val="0"/>
                        </a:spcBef>
                        <a:spcAft>
                          <a:spcPts val="0"/>
                        </a:spcAft>
                        <a:buNone/>
                      </a:pPr>
                      <a:r>
                        <a:rPr b="1" lang="en-US" sz="1800">
                          <a:latin typeface="Calibri"/>
                          <a:ea typeface="Calibri"/>
                          <a:cs typeface="Calibri"/>
                          <a:sym typeface="Calibri"/>
                        </a:rPr>
                        <a:t>Shahroz</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Nail &amp; Eye Pipelines + </a:t>
                      </a:r>
                      <a:r>
                        <a:rPr lang="en-US" sz="1800">
                          <a:solidFill>
                            <a:schemeClr val="dk1"/>
                          </a:solidFill>
                          <a:latin typeface="Calibri"/>
                          <a:ea typeface="Calibri"/>
                          <a:cs typeface="Calibri"/>
                          <a:sym typeface="Calibri"/>
                        </a:rPr>
                        <a:t>Deployment Lead</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Pipeline for nails and eyes</a:t>
                      </a:r>
                      <a:r>
                        <a:rPr lang="en-US" sz="1800">
                          <a:latin typeface="Calibri"/>
                          <a:ea typeface="Calibri"/>
                          <a:cs typeface="Calibri"/>
                          <a:sym typeface="Calibri"/>
                        </a:rPr>
                        <a:t>; </a:t>
                      </a:r>
                      <a:r>
                        <a:rPr lang="en-US" sz="1800">
                          <a:solidFill>
                            <a:schemeClr val="dk1"/>
                          </a:solidFill>
                          <a:latin typeface="Calibri"/>
                          <a:ea typeface="Calibri"/>
                          <a:cs typeface="Calibri"/>
                          <a:sym typeface="Calibri"/>
                        </a:rPr>
                        <a:t>handles deployment</a:t>
                      </a:r>
                      <a:endParaRPr/>
                    </a:p>
                  </a:txBody>
                  <a:tcPr marT="91425" marB="91425" marR="91425" marL="91425"/>
                </a:tc>
              </a:tr>
              <a:tr h="1030450">
                <a:tc>
                  <a:txBody>
                    <a:bodyPr/>
                    <a:lstStyle/>
                    <a:p>
                      <a:pPr indent="0" lvl="0" marL="0" rtl="0" algn="l">
                        <a:lnSpc>
                          <a:spcPct val="150000"/>
                        </a:lnSpc>
                        <a:spcBef>
                          <a:spcPts val="0"/>
                        </a:spcBef>
                        <a:spcAft>
                          <a:spcPts val="0"/>
                        </a:spcAft>
                        <a:buNone/>
                      </a:pPr>
                      <a:r>
                        <a:rPr b="1" lang="en-US" sz="1800">
                          <a:latin typeface="Calibri"/>
                          <a:ea typeface="Calibri"/>
                          <a:cs typeface="Calibri"/>
                          <a:sym typeface="Calibri"/>
                        </a:rPr>
                        <a:t>Sarmad</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Tongue &amp; Palm Pipelines +</a:t>
                      </a:r>
                      <a:endParaRPr sz="1800">
                        <a:latin typeface="Calibri"/>
                        <a:ea typeface="Calibri"/>
                        <a:cs typeface="Calibri"/>
                        <a:sym typeface="Calibri"/>
                      </a:endParaRPr>
                    </a:p>
                    <a:p>
                      <a:pPr indent="0" lvl="0" marL="0" rtl="0" algn="l">
                        <a:lnSpc>
                          <a:spcPct val="150000"/>
                        </a:lnSpc>
                        <a:spcBef>
                          <a:spcPts val="0"/>
                        </a:spcBef>
                        <a:spcAft>
                          <a:spcPts val="0"/>
                        </a:spcAft>
                        <a:buNone/>
                      </a:pPr>
                      <a:r>
                        <a:rPr lang="en-US" sz="1800">
                          <a:solidFill>
                            <a:schemeClr val="dk1"/>
                          </a:solidFill>
                          <a:latin typeface="Calibri"/>
                          <a:ea typeface="Calibri"/>
                          <a:cs typeface="Calibri"/>
                          <a:sym typeface="Calibri"/>
                        </a:rPr>
                        <a:t>App Lead </a:t>
                      </a:r>
                      <a:r>
                        <a:rPr lang="en-US" sz="1800">
                          <a:latin typeface="Calibri"/>
                          <a:ea typeface="Calibri"/>
                          <a:cs typeface="Calibri"/>
                          <a:sym typeface="Calibri"/>
                        </a:rPr>
                        <a:t> </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Pipeline for tongue and palm; </a:t>
                      </a:r>
                      <a:r>
                        <a:rPr lang="en-US" sz="1800">
                          <a:solidFill>
                            <a:schemeClr val="dk1"/>
                          </a:solidFill>
                          <a:latin typeface="Calibri"/>
                          <a:ea typeface="Calibri"/>
                          <a:cs typeface="Calibri"/>
                          <a:sym typeface="Calibri"/>
                        </a:rPr>
                        <a:t>b</a:t>
                      </a:r>
                      <a:r>
                        <a:rPr lang="en-US" sz="1800">
                          <a:solidFill>
                            <a:schemeClr val="dk1"/>
                          </a:solidFill>
                          <a:latin typeface="Calibri"/>
                          <a:ea typeface="Calibri"/>
                          <a:cs typeface="Calibri"/>
                          <a:sym typeface="Calibri"/>
                        </a:rPr>
                        <a:t>uilds the UI</a:t>
                      </a:r>
                      <a:endParaRPr sz="18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