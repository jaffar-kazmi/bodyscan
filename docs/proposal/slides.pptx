
<file path=[Content_Types].xml><?xml version="1.0" encoding="utf-8"?>
<Types xmlns="http://schemas.openxmlformats.org/package/2006/content-types">
  <Default ContentType="image/jpeg" Extension="jpg"/>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y="6858000" cx="9144000"/>
  <p:notesSz cx="7315200" cy="96012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5E94970-25BA-4ACD-85B8-0799969456D3}">
  <a:tblStyle styleId="{55E94970-25BA-4ACD-85B8-0799969456D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5" Type="http://schemas.openxmlformats.org/officeDocument/2006/relationships/slide" Target="slides/slide19.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2" name="Google Shape;82;p1: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2: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9" name="Google Shape;89;p2: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3: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5" name="Google Shape;95;p3:notes"/>
          <p:cNvSpPr/>
          <p:nvPr>
            <p:ph idx="2" type="sldImg"/>
          </p:nvPr>
        </p:nvSpPr>
        <p:spPr>
          <a:xfrm>
            <a:off x="1257300" y="720725"/>
            <a:ext cx="4800600"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4: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1" name="Google Shape;101;p4:notes"/>
          <p:cNvSpPr/>
          <p:nvPr>
            <p:ph idx="2" type="sldImg"/>
          </p:nvPr>
        </p:nvSpPr>
        <p:spPr>
          <a:xfrm>
            <a:off x="1257300" y="720725"/>
            <a:ext cx="4800600"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5: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7" name="Google Shape;107;p5: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6: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1" name="Google Shape;121;p6: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7: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7" name="Google Shape;127;p7: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f9fbfbdbe5_5_69: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3" name="Google Shape;133;g3f9fbfbdbe5_5_69:notes"/>
          <p:cNvSpPr/>
          <p:nvPr>
            <p:ph idx="2" type="sldImg"/>
          </p:nvPr>
        </p:nvSpPr>
        <p:spPr>
          <a:xfrm>
            <a:off x="1219425" y="720075"/>
            <a:ext cx="48771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8: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9" name="Google Shape;139;p8:notes"/>
          <p:cNvSpPr/>
          <p:nvPr>
            <p:ph idx="2" type="sldImg"/>
          </p:nvPr>
        </p:nvSpPr>
        <p:spPr>
          <a:xfrm>
            <a:off x="1219425" y="720075"/>
            <a:ext cx="48771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9: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5" name="Google Shape;145;p9:notes"/>
          <p:cNvSpPr/>
          <p:nvPr>
            <p:ph idx="2" type="sldImg"/>
          </p:nvPr>
        </p:nvSpPr>
        <p:spPr>
          <a:xfrm>
            <a:off x="1219425" y="720075"/>
            <a:ext cx="48771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f9fbfbdbe5_5_54:notes"/>
          <p:cNvSpPr txBox="1"/>
          <p:nvPr>
            <p:ph idx="1" type="body"/>
          </p:nvPr>
        </p:nvSpPr>
        <p:spPr>
          <a:xfrm>
            <a:off x="731500" y="4560550"/>
            <a:ext cx="5852100" cy="432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1" name="Google Shape;151;g3f9fbfbdbe5_5_54:notes"/>
          <p:cNvSpPr/>
          <p:nvPr>
            <p:ph idx="2" type="sldImg"/>
          </p:nvPr>
        </p:nvSpPr>
        <p:spPr>
          <a:xfrm>
            <a:off x="1219425" y="720075"/>
            <a:ext cx="4877100" cy="3600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10: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7" name="Google Shape;157;p10: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1: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3" name="Google Shape;163;p11: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12: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9" name="Google Shape;169;p12:notes"/>
          <p:cNvSpPr/>
          <p:nvPr>
            <p:ph idx="2" type="sldImg"/>
          </p:nvPr>
        </p:nvSpPr>
        <p:spPr>
          <a:xfrm>
            <a:off x="1257300" y="720725"/>
            <a:ext cx="4800600"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13: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5" name="Google Shape;175;p13: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14: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1" name="Google Shape;181;p14: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15: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7" name="Google Shape;187;p15:notes"/>
          <p:cNvSpPr/>
          <p:nvPr>
            <p:ph idx="2" type="sldImg"/>
          </p:nvPr>
        </p:nvSpPr>
        <p:spPr>
          <a:xfrm>
            <a:off x="1219425" y="720075"/>
            <a:ext cx="4877025"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6: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93" name="Google Shape;193;p16:notes"/>
          <p:cNvSpPr/>
          <p:nvPr>
            <p:ph idx="2" type="sldImg"/>
          </p:nvPr>
        </p:nvSpPr>
        <p:spPr>
          <a:xfrm>
            <a:off x="1257300" y="720725"/>
            <a:ext cx="4800600"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7:notes"/>
          <p:cNvSpPr txBox="1"/>
          <p:nvPr>
            <p:ph idx="1" type="body"/>
          </p:nvPr>
        </p:nvSpPr>
        <p:spPr>
          <a:xfrm>
            <a:off x="731500" y="4560550"/>
            <a:ext cx="5852150" cy="4320525"/>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99" name="Google Shape;199;p17:notes"/>
          <p:cNvSpPr/>
          <p:nvPr>
            <p:ph idx="2" type="sldImg"/>
          </p:nvPr>
        </p:nvSpPr>
        <p:spPr>
          <a:xfrm>
            <a:off x="1257300" y="720725"/>
            <a:ext cx="4800600" cy="36004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2"/>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3" name="Google Shape;13;p2"/>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4" name="Google Shape;14;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 name="Google Shape;15;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 name="Google Shape;16;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9" name="Google Shape;19;p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0" name="Google Shape;20;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Autofit/>
          </a:bodyPr>
          <a:lstStyle>
            <a:lvl1pPr lvl="0" algn="l">
              <a:lnSpc>
                <a:spcPct val="100000"/>
              </a:lnSpc>
              <a:spcBef>
                <a:spcPts val="0"/>
              </a:spcBef>
              <a:spcAft>
                <a:spcPts val="0"/>
              </a:spcAft>
              <a:buSzPts val="1400"/>
              <a:buNone/>
              <a:defRPr b="1" sz="4000" cap="none"/>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25" name="Google Shape;25;p4"/>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26" name="Google Shape;26;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 name="Google Shape;28;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31" name="Google Shape;31;p5"/>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2" name="Google Shape;32;p5"/>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3" name="Google Shape;33;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 name="Google Shape;34;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38" name="Google Shape;38;p6"/>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39" name="Google Shape;39;p6"/>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0" name="Google Shape;40;p6"/>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1" name="Google Shape;41;p6"/>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2" name="Google Shape;42;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47" name="Google Shape;47;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 name="Google Shape;49;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Autofit/>
          </a:bodyPr>
          <a:lstStyle>
            <a:lvl1pPr lvl="0" algn="l">
              <a:lnSpc>
                <a:spcPct val="100000"/>
              </a:lnSpc>
              <a:spcBef>
                <a:spcPts val="0"/>
              </a:spcBef>
              <a:spcAft>
                <a:spcPts val="0"/>
              </a:spcAft>
              <a:buSzPts val="1400"/>
              <a:buNone/>
              <a:defRPr b="1" sz="20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Autofit/>
          </a:bodyPr>
          <a:lstStyle>
            <a:lvl1pPr lvl="0" algn="l">
              <a:lnSpc>
                <a:spcPct val="100000"/>
              </a:lnSpc>
              <a:spcBef>
                <a:spcPts val="0"/>
              </a:spcBef>
              <a:spcAft>
                <a:spcPts val="0"/>
              </a:spcAft>
              <a:buSzPts val="1400"/>
              <a:buNone/>
              <a:defRPr b="1" sz="20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70" name="Google Shape;70;p11"/>
          <p:cNvSpPr txBox="1"/>
          <p:nvPr>
            <p:ph idx="1" type="body"/>
          </p:nvPr>
        </p:nvSpPr>
        <p:spPr>
          <a:xfrm rot="5400000">
            <a:off x="2309018" y="-251619"/>
            <a:ext cx="4525963" cy="82296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7" y="2171700"/>
            <a:ext cx="5851525" cy="20574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76" name="Google Shape;76;p12"/>
          <p:cNvSpPr txBox="1"/>
          <p:nvPr>
            <p:ph idx="1" type="body"/>
          </p:nvPr>
        </p:nvSpPr>
        <p:spPr>
          <a:xfrm rot="5400000">
            <a:off x="541338" y="190501"/>
            <a:ext cx="5851525" cy="60198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2.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1pPr>
            <a:lvl2pPr lvl="1"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2pPr>
            <a:lvl3pPr lvl="2"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3pPr>
            <a:lvl4pPr lvl="3"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4pPr>
            <a:lvl5pPr lvl="4"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5pPr>
            <a:lvl6pPr lvl="5"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6pPr>
            <a:lvl7pPr lvl="6"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7pPr>
            <a:lvl8pPr lvl="7"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8pPr>
            <a:lvl9pPr lvl="8" marR="0" rtl="0" algn="ctr">
              <a:lnSpc>
                <a:spcPct val="100000"/>
              </a:lnSpc>
              <a:spcBef>
                <a:spcPts val="0"/>
              </a:spcBef>
              <a:spcAft>
                <a:spcPts val="0"/>
              </a:spcAft>
              <a:buClr>
                <a:srgbClr val="000000"/>
              </a:buClr>
              <a:buSzPts val="1400"/>
              <a:buFont typeface="Arial"/>
              <a:buNone/>
              <a:defRPr b="0" i="0" sz="4400" u="none" cap="none" strike="noStrike">
                <a:solidFill>
                  <a:schemeClr val="dk1"/>
                </a:solidFill>
                <a:latin typeface="Calibri"/>
                <a:ea typeface="Calibri"/>
                <a:cs typeface="Calibri"/>
                <a:sym typeface="Calibri"/>
              </a:defRPr>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3" name="Shape 83"/>
        <p:cNvGrpSpPr/>
        <p:nvPr/>
      </p:nvGrpSpPr>
      <p:grpSpPr>
        <a:xfrm>
          <a:off x="0" y="0"/>
          <a:ext cx="0" cy="0"/>
          <a:chOff x="0" y="0"/>
          <a:chExt cx="0" cy="0"/>
        </a:xfrm>
      </p:grpSpPr>
      <p:sp>
        <p:nvSpPr>
          <p:cNvPr id="84" name="Google Shape;84;p1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1400"/>
              <a:buNone/>
            </a:pPr>
            <a:r>
              <a:rPr lang="en-US"/>
              <a:t>Final Year Project Proposal</a:t>
            </a:r>
            <a:endParaRPr/>
          </a:p>
        </p:txBody>
      </p:sp>
      <p:sp>
        <p:nvSpPr>
          <p:cNvPr id="85" name="Google Shape;85;p1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lnSpcReduction="10000"/>
          </a:bodyPr>
          <a:lstStyle/>
          <a:p>
            <a:pPr indent="0" lvl="0" marL="63500" rtl="0" algn="ctr">
              <a:lnSpc>
                <a:spcPct val="100000"/>
              </a:lnSpc>
              <a:spcBef>
                <a:spcPts val="0"/>
              </a:spcBef>
              <a:spcAft>
                <a:spcPts val="0"/>
              </a:spcAft>
              <a:buClr>
                <a:srgbClr val="888888"/>
              </a:buClr>
              <a:buSzPts val="3200"/>
              <a:buFont typeface="Arial"/>
              <a:buNone/>
            </a:pPr>
            <a:r>
              <a:rPr lang="en-US"/>
              <a:t>GLANCE </a:t>
            </a:r>
            <a:r>
              <a:rPr lang="en-US"/>
              <a:t>– General Look-based Assessment for Non-invasive Care &amp; Evaluation</a:t>
            </a:r>
            <a:endParaRPr/>
          </a:p>
          <a:p>
            <a:pPr indent="0" lvl="0" marL="63500" rtl="0" algn="ctr">
              <a:lnSpc>
                <a:spcPct val="100000"/>
              </a:lnSpc>
              <a:spcBef>
                <a:spcPts val="280"/>
              </a:spcBef>
              <a:spcAft>
                <a:spcPts val="0"/>
              </a:spcAft>
              <a:buClr>
                <a:srgbClr val="888888"/>
              </a:buClr>
              <a:buSzPts val="1400"/>
              <a:buFont typeface="Arial"/>
              <a:buNone/>
            </a:pPr>
            <a:r>
              <a:rPr lang="en-US" sz="1400"/>
              <a:t>Supervised By: M. Islam Abbasi (Lecturer)</a:t>
            </a:r>
            <a:endParaRPr/>
          </a:p>
        </p:txBody>
      </p:sp>
      <p:pic>
        <p:nvPicPr>
          <p:cNvPr descr="Riphah.jpg" id="86" name="Google Shape;86;p13"/>
          <p:cNvPicPr preferRelativeResize="0"/>
          <p:nvPr/>
        </p:nvPicPr>
        <p:blipFill rotWithShape="1">
          <a:blip r:embed="rId4">
            <a:alphaModFix/>
          </a:blip>
          <a:srcRect b="4925" l="3033" r="6926" t="4065"/>
          <a:stretch/>
        </p:blipFill>
        <p:spPr>
          <a:xfrm>
            <a:off x="4076700" y="1295400"/>
            <a:ext cx="990600" cy="12954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1400"/>
              <a:buNone/>
            </a:pPr>
            <a:r>
              <a:rPr lang="en-US"/>
              <a:t>Project Team</a:t>
            </a:r>
            <a:endParaRPr/>
          </a:p>
        </p:txBody>
      </p:sp>
      <p:sp>
        <p:nvSpPr>
          <p:cNvPr id="92" name="Google Shape;92;p1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Autofit/>
          </a:bodyPr>
          <a:lstStyle/>
          <a:p>
            <a:pPr indent="-342900" lvl="0" marL="342900" rtl="0" algn="l">
              <a:lnSpc>
                <a:spcPct val="100000"/>
              </a:lnSpc>
              <a:spcBef>
                <a:spcPts val="0"/>
              </a:spcBef>
              <a:spcAft>
                <a:spcPts val="0"/>
              </a:spcAft>
              <a:buClr>
                <a:schemeClr val="dk1"/>
              </a:buClr>
              <a:buSzPts val="3200"/>
              <a:buChar char="•"/>
            </a:pPr>
            <a:r>
              <a:rPr lang="en-US"/>
              <a:t>Syed Jaffar Raza Kazmi (57375)</a:t>
            </a:r>
            <a:endParaRPr/>
          </a:p>
          <a:p>
            <a:pPr indent="-342900" lvl="0" marL="342900" rtl="0" algn="l">
              <a:lnSpc>
                <a:spcPct val="100000"/>
              </a:lnSpc>
              <a:spcBef>
                <a:spcPts val="640"/>
              </a:spcBef>
              <a:spcAft>
                <a:spcPts val="0"/>
              </a:spcAft>
              <a:buClr>
                <a:schemeClr val="dk1"/>
              </a:buClr>
              <a:buSzPts val="3200"/>
              <a:buChar char="•"/>
            </a:pPr>
            <a:r>
              <a:rPr lang="en-US"/>
              <a:t>Shahroz Khalid (53531)</a:t>
            </a:r>
            <a:endParaRPr/>
          </a:p>
          <a:p>
            <a:pPr indent="-342900" lvl="0" marL="342900" rtl="0" algn="l">
              <a:lnSpc>
                <a:spcPct val="100000"/>
              </a:lnSpc>
              <a:spcBef>
                <a:spcPts val="640"/>
              </a:spcBef>
              <a:spcAft>
                <a:spcPts val="0"/>
              </a:spcAft>
              <a:buClr>
                <a:schemeClr val="dk1"/>
              </a:buClr>
              <a:buSzPts val="3200"/>
              <a:buChar char="•"/>
            </a:pPr>
            <a:r>
              <a:rPr lang="en-US"/>
              <a:t>Muhammad Sarmad Chughtai (54915)</a:t>
            </a:r>
            <a:endParaRPr/>
          </a:p>
          <a:p>
            <a:pPr indent="-139700" lvl="0" marL="342900" rtl="0" algn="l">
              <a:lnSpc>
                <a:spcPct val="100000"/>
              </a:lnSpc>
              <a:spcBef>
                <a:spcPts val="640"/>
              </a:spcBef>
              <a:spcAft>
                <a:spcPts val="0"/>
              </a:spcAft>
              <a:buClr>
                <a:schemeClr val="dk1"/>
              </a:buClr>
              <a:buSzPts val="3200"/>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1400"/>
              <a:buNone/>
            </a:pPr>
            <a:r>
              <a:rPr lang="en-US"/>
              <a:t>Table of Content</a:t>
            </a:r>
            <a:endParaRPr/>
          </a:p>
        </p:txBody>
      </p:sp>
      <p:sp>
        <p:nvSpPr>
          <p:cNvPr id="98" name="Google Shape;98;p15"/>
          <p:cNvSpPr txBox="1"/>
          <p:nvPr>
            <p:ph idx="1" type="body"/>
          </p:nvPr>
        </p:nvSpPr>
        <p:spPr>
          <a:xfrm>
            <a:off x="457200" y="1447800"/>
            <a:ext cx="8229600" cy="4526100"/>
          </a:xfrm>
          <a:prstGeom prst="rect">
            <a:avLst/>
          </a:prstGeom>
          <a:noFill/>
          <a:ln>
            <a:noFill/>
          </a:ln>
        </p:spPr>
        <p:txBody>
          <a:bodyPr anchorCtr="0" anchor="t" bIns="45700" lIns="91425" spcFirstLastPara="1" rIns="91425" wrap="square" tIns="45700">
            <a:noAutofit/>
          </a:bodyPr>
          <a:lstStyle/>
          <a:p>
            <a:pPr indent="-342900" lvl="0" marL="342900" rtl="0" algn="l">
              <a:lnSpc>
                <a:spcPct val="100000"/>
              </a:lnSpc>
              <a:spcBef>
                <a:spcPts val="0"/>
              </a:spcBef>
              <a:spcAft>
                <a:spcPts val="0"/>
              </a:spcAft>
              <a:buClr>
                <a:schemeClr val="dk1"/>
              </a:buClr>
              <a:buSzPts val="3200"/>
              <a:buChar char="•"/>
            </a:pPr>
            <a:r>
              <a:rPr lang="en-US"/>
              <a:t>Introduction and Background</a:t>
            </a:r>
            <a:endParaRPr/>
          </a:p>
          <a:p>
            <a:pPr indent="-342900" lvl="0" marL="342900" rtl="0" algn="l">
              <a:lnSpc>
                <a:spcPct val="100000"/>
              </a:lnSpc>
              <a:spcBef>
                <a:spcPts val="640"/>
              </a:spcBef>
              <a:spcAft>
                <a:spcPts val="0"/>
              </a:spcAft>
              <a:buClr>
                <a:schemeClr val="dk1"/>
              </a:buClr>
              <a:buSzPts val="3200"/>
              <a:buChar char="•"/>
            </a:pPr>
            <a:r>
              <a:rPr lang="en-US"/>
              <a:t>Literature Review and Summary Table</a:t>
            </a:r>
            <a:endParaRPr/>
          </a:p>
          <a:p>
            <a:pPr indent="-254000" lvl="0" marL="342900" rtl="0" algn="l">
              <a:lnSpc>
                <a:spcPct val="100000"/>
              </a:lnSpc>
              <a:spcBef>
                <a:spcPts val="640"/>
              </a:spcBef>
              <a:spcAft>
                <a:spcPts val="0"/>
              </a:spcAft>
              <a:buSzPts val="1800"/>
              <a:buChar char="•"/>
            </a:pPr>
            <a:r>
              <a:rPr lang="en-US"/>
              <a:t>Gap Analysis</a:t>
            </a:r>
            <a:endParaRPr/>
          </a:p>
          <a:p>
            <a:pPr indent="-342900" lvl="0" marL="342900" rtl="0" algn="l">
              <a:lnSpc>
                <a:spcPct val="100000"/>
              </a:lnSpc>
              <a:spcBef>
                <a:spcPts val="640"/>
              </a:spcBef>
              <a:spcAft>
                <a:spcPts val="0"/>
              </a:spcAft>
              <a:buClr>
                <a:schemeClr val="dk1"/>
              </a:buClr>
              <a:buSzPts val="3200"/>
              <a:buChar char="•"/>
            </a:pPr>
            <a:r>
              <a:rPr lang="en-US"/>
              <a:t>Problem Statement</a:t>
            </a:r>
            <a:endParaRPr/>
          </a:p>
          <a:p>
            <a:pPr indent="-342900" lvl="0" marL="342900" rtl="0" algn="l">
              <a:lnSpc>
                <a:spcPct val="100000"/>
              </a:lnSpc>
              <a:spcBef>
                <a:spcPts val="640"/>
              </a:spcBef>
              <a:spcAft>
                <a:spcPts val="0"/>
              </a:spcAft>
              <a:buClr>
                <a:schemeClr val="dk1"/>
              </a:buClr>
              <a:buSzPts val="3200"/>
              <a:buChar char="•"/>
            </a:pPr>
            <a:r>
              <a:rPr lang="en-US"/>
              <a:t>Proposed Solution &amp; Methodology</a:t>
            </a:r>
            <a:endParaRPr/>
          </a:p>
          <a:p>
            <a:pPr indent="-342900" lvl="0" marL="342900" rtl="0" algn="l">
              <a:lnSpc>
                <a:spcPct val="100000"/>
              </a:lnSpc>
              <a:spcBef>
                <a:spcPts val="640"/>
              </a:spcBef>
              <a:spcAft>
                <a:spcPts val="0"/>
              </a:spcAft>
              <a:buClr>
                <a:schemeClr val="dk1"/>
              </a:buClr>
              <a:buSzPts val="3200"/>
              <a:buChar char="•"/>
            </a:pPr>
            <a:r>
              <a:rPr lang="en-US"/>
              <a:t>Project Scope</a:t>
            </a:r>
            <a:endParaRPr/>
          </a:p>
          <a:p>
            <a:pPr indent="-342900" lvl="0" marL="342900" rtl="0" algn="l">
              <a:lnSpc>
                <a:spcPct val="100000"/>
              </a:lnSpc>
              <a:spcBef>
                <a:spcPts val="640"/>
              </a:spcBef>
              <a:spcAft>
                <a:spcPts val="0"/>
              </a:spcAft>
              <a:buSzPts val="3200"/>
              <a:buChar char="•"/>
            </a:pPr>
            <a:r>
              <a:rPr lang="en-US"/>
              <a:t>Work Breakdown Structure</a:t>
            </a:r>
            <a:endParaRPr/>
          </a:p>
          <a:p>
            <a:pPr indent="-342900" lvl="0" marL="342900" rtl="0" algn="l">
              <a:lnSpc>
                <a:spcPct val="100000"/>
              </a:lnSpc>
              <a:spcBef>
                <a:spcPts val="640"/>
              </a:spcBef>
              <a:spcAft>
                <a:spcPts val="0"/>
              </a:spcAft>
              <a:buSzPts val="3200"/>
              <a:buChar char="•"/>
            </a:pPr>
            <a:r>
              <a:rPr lang="en-US"/>
              <a:t>Roles and Responsibilities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t>INTRODUCTION AND BACKGROUND</a:t>
            </a:r>
            <a:endParaRPr/>
          </a:p>
        </p:txBody>
      </p:sp>
      <p:sp>
        <p:nvSpPr>
          <p:cNvPr id="104" name="Google Shape;104;p1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SzPts val="1400"/>
              <a:buNone/>
            </a:pPr>
            <a:r>
              <a:rPr b="1" lang="en-US" sz="4000"/>
              <a:t>INTRODUCTION AND BACKGROUND</a:t>
            </a:r>
            <a:endParaRPr/>
          </a:p>
        </p:txBody>
      </p:sp>
      <p:sp>
        <p:nvSpPr>
          <p:cNvPr id="110" name="Google Shape;110;p17"/>
          <p:cNvSpPr/>
          <p:nvPr/>
        </p:nvSpPr>
        <p:spPr>
          <a:xfrm>
            <a:off x="548653" y="1678619"/>
            <a:ext cx="164700" cy="164700"/>
          </a:xfrm>
          <a:prstGeom prst="ellipse">
            <a:avLst/>
          </a:prstGeom>
          <a:solidFill>
            <a:srgbClr val="02C39A"/>
          </a:solidFill>
          <a:ln>
            <a:noFill/>
          </a:ln>
        </p:spPr>
        <p:txBody>
          <a:bodyPr anchorCtr="0" anchor="ctr" bIns="117575" lIns="117575" spcFirstLastPara="1" rIns="117575" wrap="square" tIns="117575">
            <a:noAutofit/>
          </a:bodyPr>
          <a:lstStyle/>
          <a:p>
            <a:pPr indent="0" lvl="0" marL="0" rtl="0" algn="l">
              <a:spcBef>
                <a:spcPts val="0"/>
              </a:spcBef>
              <a:spcAft>
                <a:spcPts val="0"/>
              </a:spcAft>
              <a:buNone/>
            </a:pPr>
            <a:r>
              <a:t/>
            </a:r>
            <a:endParaRPr>
              <a:solidFill>
                <a:schemeClr val="dk1"/>
              </a:solidFill>
              <a:latin typeface="Calibri"/>
              <a:ea typeface="Calibri"/>
              <a:cs typeface="Calibri"/>
              <a:sym typeface="Calibri"/>
            </a:endParaRPr>
          </a:p>
        </p:txBody>
      </p:sp>
      <p:sp>
        <p:nvSpPr>
          <p:cNvPr id="111" name="Google Shape;111;p17"/>
          <p:cNvSpPr/>
          <p:nvPr/>
        </p:nvSpPr>
        <p:spPr>
          <a:xfrm>
            <a:off x="924980" y="1572777"/>
            <a:ext cx="7761900" cy="411600"/>
          </a:xfrm>
          <a:prstGeom prst="rect">
            <a:avLst/>
          </a:prstGeom>
          <a:noFill/>
          <a:ln>
            <a:noFill/>
          </a:ln>
        </p:spPr>
        <p:txBody>
          <a:bodyPr anchorCtr="0" anchor="ctr" bIns="58775" lIns="117575" spcFirstLastPara="1" rIns="117575" wrap="square" tIns="58775">
            <a:noAutofit/>
          </a:bodyPr>
          <a:lstStyle/>
          <a:p>
            <a:pPr indent="0" lvl="0" marL="0" marR="0" rtl="0" algn="l">
              <a:spcBef>
                <a:spcPts val="0"/>
              </a:spcBef>
              <a:spcAft>
                <a:spcPts val="0"/>
              </a:spcAft>
              <a:buClr>
                <a:srgbClr val="0B3D59"/>
              </a:buClr>
              <a:buSzPts val="2058"/>
              <a:buFont typeface="Cambria"/>
              <a:buNone/>
            </a:pPr>
            <a:r>
              <a:rPr b="1" i="0" lang="en-US" sz="2058" u="none" cap="none" strike="noStrike">
                <a:solidFill>
                  <a:schemeClr val="dk1"/>
                </a:solidFill>
                <a:latin typeface="Calibri"/>
                <a:ea typeface="Calibri"/>
                <a:cs typeface="Calibri"/>
                <a:sym typeface="Calibri"/>
              </a:rPr>
              <a:t>The problem space</a:t>
            </a:r>
            <a:endParaRPr i="0" sz="2058" u="none" cap="none" strike="noStrike">
              <a:solidFill>
                <a:schemeClr val="dk1"/>
              </a:solidFill>
              <a:latin typeface="Calibri"/>
              <a:ea typeface="Calibri"/>
              <a:cs typeface="Calibri"/>
              <a:sym typeface="Calibri"/>
            </a:endParaRPr>
          </a:p>
        </p:txBody>
      </p:sp>
      <p:sp>
        <p:nvSpPr>
          <p:cNvPr id="112" name="Google Shape;112;p17"/>
          <p:cNvSpPr/>
          <p:nvPr/>
        </p:nvSpPr>
        <p:spPr>
          <a:xfrm>
            <a:off x="924980" y="1890346"/>
            <a:ext cx="7761900" cy="764400"/>
          </a:xfrm>
          <a:prstGeom prst="rect">
            <a:avLst/>
          </a:prstGeom>
          <a:noFill/>
          <a:ln>
            <a:noFill/>
          </a:ln>
        </p:spPr>
        <p:txBody>
          <a:bodyPr anchorCtr="0" anchor="t" bIns="58775" lIns="117575" spcFirstLastPara="1" rIns="117575" wrap="square" tIns="58775">
            <a:noAutofit/>
          </a:bodyPr>
          <a:lstStyle/>
          <a:p>
            <a:pPr indent="0" lvl="0" marL="0" marR="0" rtl="0" algn="l">
              <a:spcBef>
                <a:spcPts val="0"/>
              </a:spcBef>
              <a:spcAft>
                <a:spcPts val="0"/>
              </a:spcAft>
              <a:buClr>
                <a:srgbClr val="13232E"/>
              </a:buClr>
              <a:buSzPts val="1608"/>
              <a:buFont typeface="Calibri"/>
              <a:buNone/>
            </a:pPr>
            <a:r>
              <a:rPr i="0" lang="en-US" sz="2000" u="none" cap="none" strike="noStrike">
                <a:solidFill>
                  <a:schemeClr val="dk1"/>
                </a:solidFill>
                <a:latin typeface="Calibri"/>
                <a:ea typeface="Calibri"/>
                <a:cs typeface="Calibri"/>
                <a:sym typeface="Calibri"/>
              </a:rPr>
              <a:t>Many systemic diseases first surface as visible changes on body surfaces (</a:t>
            </a:r>
            <a:r>
              <a:rPr lang="en-US" sz="2000">
                <a:solidFill>
                  <a:schemeClr val="dk1"/>
                </a:solidFill>
                <a:latin typeface="Calibri"/>
                <a:ea typeface="Calibri"/>
                <a:cs typeface="Calibri"/>
                <a:sym typeface="Calibri"/>
              </a:rPr>
              <a:t>e.g</a:t>
            </a:r>
            <a:r>
              <a:rPr i="0" lang="en-US" sz="2000" u="none" cap="none" strike="noStrike">
                <a:solidFill>
                  <a:schemeClr val="dk1"/>
                </a:solidFill>
                <a:latin typeface="Calibri"/>
                <a:ea typeface="Calibri"/>
                <a:cs typeface="Calibri"/>
                <a:sym typeface="Calibri"/>
              </a:rPr>
              <a:t> oral lesions, nail clubbing, conjunctival pallor, tongue coating, palmar signs </a:t>
            </a:r>
            <a:r>
              <a:rPr lang="en-US" sz="2000">
                <a:solidFill>
                  <a:schemeClr val="dk1"/>
                </a:solidFill>
                <a:latin typeface="Calibri"/>
                <a:ea typeface="Calibri"/>
                <a:cs typeface="Calibri"/>
                <a:sym typeface="Calibri"/>
              </a:rPr>
              <a:t>etc)</a:t>
            </a:r>
            <a:r>
              <a:rPr i="0" lang="en-US" sz="2000" u="none" cap="none" strike="noStrike">
                <a:solidFill>
                  <a:schemeClr val="dk1"/>
                </a:solidFill>
                <a:latin typeface="Calibri"/>
                <a:ea typeface="Calibri"/>
                <a:cs typeface="Calibri"/>
                <a:sym typeface="Calibri"/>
              </a:rPr>
              <a:t> long before lab-confirmed diagnosis.</a:t>
            </a:r>
            <a:endParaRPr i="0" sz="2000" u="none" cap="none" strike="noStrike">
              <a:solidFill>
                <a:schemeClr val="dk1"/>
              </a:solidFill>
              <a:latin typeface="Calibri"/>
              <a:ea typeface="Calibri"/>
              <a:cs typeface="Calibri"/>
              <a:sym typeface="Calibri"/>
            </a:endParaRPr>
          </a:p>
        </p:txBody>
      </p:sp>
      <p:sp>
        <p:nvSpPr>
          <p:cNvPr id="113" name="Google Shape;113;p17"/>
          <p:cNvSpPr/>
          <p:nvPr/>
        </p:nvSpPr>
        <p:spPr>
          <a:xfrm>
            <a:off x="548653" y="3031048"/>
            <a:ext cx="164700" cy="164700"/>
          </a:xfrm>
          <a:prstGeom prst="ellipse">
            <a:avLst/>
          </a:prstGeom>
          <a:solidFill>
            <a:srgbClr val="02C39A"/>
          </a:solidFill>
          <a:ln>
            <a:noFill/>
          </a:ln>
        </p:spPr>
        <p:txBody>
          <a:bodyPr anchorCtr="0" anchor="ctr" bIns="117575" lIns="117575" spcFirstLastPara="1" rIns="117575" wrap="square" tIns="117575">
            <a:noAutofit/>
          </a:bodyPr>
          <a:lstStyle/>
          <a:p>
            <a:pPr indent="0" lvl="0" marL="0" rtl="0" algn="l">
              <a:spcBef>
                <a:spcPts val="0"/>
              </a:spcBef>
              <a:spcAft>
                <a:spcPts val="0"/>
              </a:spcAft>
              <a:buNone/>
            </a:pPr>
            <a:r>
              <a:t/>
            </a:r>
            <a:endParaRPr>
              <a:solidFill>
                <a:schemeClr val="dk1"/>
              </a:solidFill>
              <a:latin typeface="Calibri"/>
              <a:ea typeface="Calibri"/>
              <a:cs typeface="Calibri"/>
              <a:sym typeface="Calibri"/>
            </a:endParaRPr>
          </a:p>
        </p:txBody>
      </p:sp>
      <p:sp>
        <p:nvSpPr>
          <p:cNvPr id="114" name="Google Shape;114;p17"/>
          <p:cNvSpPr/>
          <p:nvPr/>
        </p:nvSpPr>
        <p:spPr>
          <a:xfrm>
            <a:off x="924980" y="2942835"/>
            <a:ext cx="7761900" cy="411600"/>
          </a:xfrm>
          <a:prstGeom prst="rect">
            <a:avLst/>
          </a:prstGeom>
          <a:noFill/>
          <a:ln>
            <a:noFill/>
          </a:ln>
        </p:spPr>
        <p:txBody>
          <a:bodyPr anchorCtr="0" anchor="ctr" bIns="58775" lIns="117575" spcFirstLastPara="1" rIns="117575" wrap="square" tIns="58775">
            <a:noAutofit/>
          </a:bodyPr>
          <a:lstStyle/>
          <a:p>
            <a:pPr indent="0" lvl="0" marL="0" marR="0" rtl="0" algn="l">
              <a:spcBef>
                <a:spcPts val="0"/>
              </a:spcBef>
              <a:spcAft>
                <a:spcPts val="0"/>
              </a:spcAft>
              <a:buClr>
                <a:srgbClr val="0B3D59"/>
              </a:buClr>
              <a:buSzPts val="2058"/>
              <a:buFont typeface="Cambria"/>
              <a:buNone/>
            </a:pPr>
            <a:r>
              <a:rPr b="1" i="0" lang="en-US" sz="2058" u="none" cap="none" strike="noStrike">
                <a:solidFill>
                  <a:schemeClr val="dk1"/>
                </a:solidFill>
                <a:latin typeface="Calibri"/>
                <a:ea typeface="Calibri"/>
                <a:cs typeface="Calibri"/>
                <a:sym typeface="Calibri"/>
              </a:rPr>
              <a:t>The opportunity</a:t>
            </a:r>
            <a:endParaRPr i="0" sz="2058" u="none" cap="none" strike="noStrike">
              <a:solidFill>
                <a:schemeClr val="dk1"/>
              </a:solidFill>
              <a:latin typeface="Calibri"/>
              <a:ea typeface="Calibri"/>
              <a:cs typeface="Calibri"/>
              <a:sym typeface="Calibri"/>
            </a:endParaRPr>
          </a:p>
        </p:txBody>
      </p:sp>
      <p:sp>
        <p:nvSpPr>
          <p:cNvPr id="115" name="Google Shape;115;p17"/>
          <p:cNvSpPr/>
          <p:nvPr/>
        </p:nvSpPr>
        <p:spPr>
          <a:xfrm>
            <a:off x="924980" y="3278034"/>
            <a:ext cx="7761900" cy="764400"/>
          </a:xfrm>
          <a:prstGeom prst="rect">
            <a:avLst/>
          </a:prstGeom>
          <a:noFill/>
          <a:ln>
            <a:noFill/>
          </a:ln>
        </p:spPr>
        <p:txBody>
          <a:bodyPr anchorCtr="0" anchor="t" bIns="58775" lIns="117575" spcFirstLastPara="1" rIns="117575" wrap="square" tIns="58775">
            <a:noAutofit/>
          </a:bodyPr>
          <a:lstStyle/>
          <a:p>
            <a:pPr indent="0" lvl="0" marL="0" marR="0" rtl="0" algn="l">
              <a:spcBef>
                <a:spcPts val="0"/>
              </a:spcBef>
              <a:spcAft>
                <a:spcPts val="0"/>
              </a:spcAft>
              <a:buClr>
                <a:srgbClr val="13232E"/>
              </a:buClr>
              <a:buSzPts val="1608"/>
              <a:buFont typeface="Calibri"/>
              <a:buNone/>
            </a:pPr>
            <a:r>
              <a:rPr i="0" lang="en-US" sz="2000" u="none" cap="none" strike="noStrike">
                <a:solidFill>
                  <a:schemeClr val="dk1"/>
                </a:solidFill>
                <a:latin typeface="Calibri"/>
                <a:ea typeface="Calibri"/>
                <a:cs typeface="Calibri"/>
                <a:sym typeface="Calibri"/>
              </a:rPr>
              <a:t>Smartphones are now ubiquitous even where clinicians and diagnostic labs are scarce, making camera-based pre-screening a realistic first triage layer.</a:t>
            </a:r>
            <a:endParaRPr i="0" sz="2000" u="none" cap="none" strike="noStrike">
              <a:solidFill>
                <a:schemeClr val="dk1"/>
              </a:solidFill>
              <a:latin typeface="Calibri"/>
              <a:ea typeface="Calibri"/>
              <a:cs typeface="Calibri"/>
              <a:sym typeface="Calibri"/>
            </a:endParaRPr>
          </a:p>
        </p:txBody>
      </p:sp>
      <p:sp>
        <p:nvSpPr>
          <p:cNvPr id="116" name="Google Shape;116;p17"/>
          <p:cNvSpPr/>
          <p:nvPr/>
        </p:nvSpPr>
        <p:spPr>
          <a:xfrm>
            <a:off x="548653" y="4383476"/>
            <a:ext cx="164700" cy="164700"/>
          </a:xfrm>
          <a:prstGeom prst="ellipse">
            <a:avLst/>
          </a:prstGeom>
          <a:solidFill>
            <a:srgbClr val="02C39A"/>
          </a:solidFill>
          <a:ln>
            <a:noFill/>
          </a:ln>
        </p:spPr>
        <p:txBody>
          <a:bodyPr anchorCtr="0" anchor="ctr" bIns="117575" lIns="117575" spcFirstLastPara="1" rIns="117575" wrap="square" tIns="117575">
            <a:noAutofit/>
          </a:bodyPr>
          <a:lstStyle/>
          <a:p>
            <a:pPr indent="0" lvl="0" marL="0" rtl="0" algn="l">
              <a:spcBef>
                <a:spcPts val="0"/>
              </a:spcBef>
              <a:spcAft>
                <a:spcPts val="0"/>
              </a:spcAft>
              <a:buNone/>
            </a:pPr>
            <a:r>
              <a:t/>
            </a:r>
            <a:endParaRPr>
              <a:solidFill>
                <a:schemeClr val="dk1"/>
              </a:solidFill>
              <a:latin typeface="Calibri"/>
              <a:ea typeface="Calibri"/>
              <a:cs typeface="Calibri"/>
              <a:sym typeface="Calibri"/>
            </a:endParaRPr>
          </a:p>
        </p:txBody>
      </p:sp>
      <p:sp>
        <p:nvSpPr>
          <p:cNvPr id="117" name="Google Shape;117;p17"/>
          <p:cNvSpPr/>
          <p:nvPr/>
        </p:nvSpPr>
        <p:spPr>
          <a:xfrm>
            <a:off x="924980" y="4277634"/>
            <a:ext cx="7761900" cy="411600"/>
          </a:xfrm>
          <a:prstGeom prst="rect">
            <a:avLst/>
          </a:prstGeom>
          <a:noFill/>
          <a:ln>
            <a:noFill/>
          </a:ln>
        </p:spPr>
        <p:txBody>
          <a:bodyPr anchorCtr="0" anchor="ctr" bIns="58775" lIns="117575" spcFirstLastPara="1" rIns="117575" wrap="square" tIns="58775">
            <a:noAutofit/>
          </a:bodyPr>
          <a:lstStyle/>
          <a:p>
            <a:pPr indent="0" lvl="0" marL="0" marR="0" rtl="0" algn="l">
              <a:spcBef>
                <a:spcPts val="0"/>
              </a:spcBef>
              <a:spcAft>
                <a:spcPts val="0"/>
              </a:spcAft>
              <a:buClr>
                <a:srgbClr val="0B3D59"/>
              </a:buClr>
              <a:buSzPts val="2058"/>
              <a:buFont typeface="Cambria"/>
              <a:buNone/>
            </a:pPr>
            <a:r>
              <a:rPr b="1" i="0" lang="en-US" sz="2058" u="none" cap="none" strike="noStrike">
                <a:solidFill>
                  <a:schemeClr val="dk1"/>
                </a:solidFill>
                <a:latin typeface="Calibri"/>
                <a:ea typeface="Calibri"/>
                <a:cs typeface="Calibri"/>
                <a:sym typeface="Calibri"/>
              </a:rPr>
              <a:t>The technical angle</a:t>
            </a:r>
            <a:endParaRPr i="0" sz="2058" u="none" cap="none" strike="noStrike">
              <a:solidFill>
                <a:schemeClr val="dk1"/>
              </a:solidFill>
              <a:latin typeface="Calibri"/>
              <a:ea typeface="Calibri"/>
              <a:cs typeface="Calibri"/>
              <a:sym typeface="Calibri"/>
            </a:endParaRPr>
          </a:p>
        </p:txBody>
      </p:sp>
      <p:sp>
        <p:nvSpPr>
          <p:cNvPr id="118" name="Google Shape;118;p17"/>
          <p:cNvSpPr/>
          <p:nvPr/>
        </p:nvSpPr>
        <p:spPr>
          <a:xfrm>
            <a:off x="924980" y="4665722"/>
            <a:ext cx="7761900" cy="764400"/>
          </a:xfrm>
          <a:prstGeom prst="rect">
            <a:avLst/>
          </a:prstGeom>
          <a:noFill/>
          <a:ln>
            <a:noFill/>
          </a:ln>
        </p:spPr>
        <p:txBody>
          <a:bodyPr anchorCtr="0" anchor="t" bIns="58775" lIns="117575" spcFirstLastPara="1" rIns="117575" wrap="square" tIns="58775">
            <a:noAutofit/>
          </a:bodyPr>
          <a:lstStyle/>
          <a:p>
            <a:pPr indent="0" lvl="0" marL="0" marR="0" rtl="0" algn="l">
              <a:spcBef>
                <a:spcPts val="0"/>
              </a:spcBef>
              <a:spcAft>
                <a:spcPts val="0"/>
              </a:spcAft>
              <a:buClr>
                <a:srgbClr val="13232E"/>
              </a:buClr>
              <a:buSzPts val="1608"/>
              <a:buFont typeface="Calibri"/>
              <a:buNone/>
            </a:pPr>
            <a:r>
              <a:rPr i="0" lang="en-US" sz="2000" u="none" cap="none" strike="noStrike">
                <a:solidFill>
                  <a:schemeClr val="dk1"/>
                </a:solidFill>
                <a:latin typeface="Calibri"/>
                <a:ea typeface="Calibri"/>
                <a:cs typeface="Calibri"/>
                <a:sym typeface="Calibri"/>
              </a:rPr>
              <a:t>Vision Transformers now match or beat CNNs on medical image tasks, and cross-modal fusion lets multiple weak visual signals combine into one confident, explainable assessment.</a:t>
            </a:r>
            <a:endParaRPr i="0" sz="20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18"/>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t>LITERATURE REVIEW</a:t>
            </a:r>
            <a:endParaRPr/>
          </a:p>
        </p:txBody>
      </p:sp>
      <p:sp>
        <p:nvSpPr>
          <p:cNvPr id="124" name="Google Shape;124;p18"/>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SzPts val="1400"/>
              <a:buNone/>
            </a:pPr>
            <a:r>
              <a:rPr b="1" lang="en-US" sz="4000"/>
              <a:t>LITERATURE REVIEW</a:t>
            </a:r>
            <a:endParaRPr sz="2000"/>
          </a:p>
        </p:txBody>
      </p:sp>
      <p:graphicFrame>
        <p:nvGraphicFramePr>
          <p:cNvPr id="130" name="Google Shape;130;p19"/>
          <p:cNvGraphicFramePr/>
          <p:nvPr/>
        </p:nvGraphicFramePr>
        <p:xfrm>
          <a:off x="457200" y="1609200"/>
          <a:ext cx="3000000" cy="3000000"/>
        </p:xfrm>
        <a:graphic>
          <a:graphicData uri="http://schemas.openxmlformats.org/drawingml/2006/table">
            <a:tbl>
              <a:tblPr>
                <a:noFill/>
                <a:tableStyleId>{55E94970-25BA-4ACD-85B8-0799969456D3}</a:tableStyleId>
              </a:tblPr>
              <a:tblGrid>
                <a:gridCol w="2057400"/>
                <a:gridCol w="2057400"/>
                <a:gridCol w="2057400"/>
                <a:gridCol w="2057400"/>
              </a:tblGrid>
              <a:tr h="601400">
                <a:tc>
                  <a:txBody>
                    <a:bodyPr/>
                    <a:lstStyle/>
                    <a:p>
                      <a:pPr indent="0" lvl="0" marL="0" rtl="0" algn="l">
                        <a:spcBef>
                          <a:spcPts val="0"/>
                        </a:spcBef>
                        <a:spcAft>
                          <a:spcPts val="0"/>
                        </a:spcAft>
                        <a:buNone/>
                      </a:pPr>
                      <a:r>
                        <a:rPr b="1" lang="en-US" sz="2000">
                          <a:latin typeface="Calibri"/>
                          <a:ea typeface="Calibri"/>
                          <a:cs typeface="Calibri"/>
                          <a:sym typeface="Calibri"/>
                        </a:rPr>
                        <a:t>Source</a:t>
                      </a:r>
                      <a:endParaRPr b="1" sz="2000">
                        <a:latin typeface="Calibri"/>
                        <a:ea typeface="Calibri"/>
                        <a:cs typeface="Calibri"/>
                        <a:sym typeface="Calibri"/>
                      </a:endParaRPr>
                    </a:p>
                  </a:txBody>
                  <a:tcPr marT="91425" marB="91425" marR="91425" marL="91425">
                    <a:solidFill>
                      <a:srgbClr val="E1E9EA"/>
                    </a:solidFill>
                  </a:tcPr>
                </a:tc>
                <a:tc>
                  <a:txBody>
                    <a:bodyPr/>
                    <a:lstStyle/>
                    <a:p>
                      <a:pPr indent="0" lvl="0" marL="0" rtl="0" algn="l">
                        <a:spcBef>
                          <a:spcPts val="0"/>
                        </a:spcBef>
                        <a:spcAft>
                          <a:spcPts val="0"/>
                        </a:spcAft>
                        <a:buNone/>
                      </a:pPr>
                      <a:r>
                        <a:rPr b="1" lang="en-US" sz="2000">
                          <a:latin typeface="Calibri"/>
                          <a:ea typeface="Calibri"/>
                          <a:cs typeface="Calibri"/>
                          <a:sym typeface="Calibri"/>
                        </a:rPr>
                        <a:t>Modality</a:t>
                      </a:r>
                      <a:endParaRPr b="1" sz="2000">
                        <a:latin typeface="Calibri"/>
                        <a:ea typeface="Calibri"/>
                        <a:cs typeface="Calibri"/>
                        <a:sym typeface="Calibri"/>
                      </a:endParaRPr>
                    </a:p>
                  </a:txBody>
                  <a:tcPr marT="91425" marB="91425" marR="91425" marL="91425">
                    <a:solidFill>
                      <a:srgbClr val="E1E9EA"/>
                    </a:solidFill>
                  </a:tcPr>
                </a:tc>
                <a:tc>
                  <a:txBody>
                    <a:bodyPr/>
                    <a:lstStyle/>
                    <a:p>
                      <a:pPr indent="0" lvl="0" marL="0" rtl="0" algn="l">
                        <a:spcBef>
                          <a:spcPts val="0"/>
                        </a:spcBef>
                        <a:spcAft>
                          <a:spcPts val="0"/>
                        </a:spcAft>
                        <a:buNone/>
                      </a:pPr>
                      <a:r>
                        <a:rPr b="1" lang="en-US" sz="2000">
                          <a:latin typeface="Calibri"/>
                          <a:ea typeface="Calibri"/>
                          <a:cs typeface="Calibri"/>
                          <a:sym typeface="Calibri"/>
                        </a:rPr>
                        <a:t>Method</a:t>
                      </a:r>
                      <a:endParaRPr b="1" sz="2000">
                        <a:latin typeface="Calibri"/>
                        <a:ea typeface="Calibri"/>
                        <a:cs typeface="Calibri"/>
                        <a:sym typeface="Calibri"/>
                      </a:endParaRPr>
                    </a:p>
                  </a:txBody>
                  <a:tcPr marT="91425" marB="91425" marR="91425" marL="91425">
                    <a:solidFill>
                      <a:srgbClr val="E1E9EA"/>
                    </a:solidFill>
                  </a:tcPr>
                </a:tc>
                <a:tc>
                  <a:txBody>
                    <a:bodyPr/>
                    <a:lstStyle/>
                    <a:p>
                      <a:pPr indent="0" lvl="0" marL="0" rtl="0" algn="l">
                        <a:spcBef>
                          <a:spcPts val="0"/>
                        </a:spcBef>
                        <a:spcAft>
                          <a:spcPts val="0"/>
                        </a:spcAft>
                        <a:buNone/>
                      </a:pPr>
                      <a:r>
                        <a:rPr b="1" lang="en-US" sz="2000">
                          <a:latin typeface="Calibri"/>
                          <a:ea typeface="Calibri"/>
                          <a:cs typeface="Calibri"/>
                          <a:sym typeface="Calibri"/>
                        </a:rPr>
                        <a:t>Key Limitation</a:t>
                      </a:r>
                      <a:endParaRPr b="1" sz="2000">
                        <a:latin typeface="Calibri"/>
                        <a:ea typeface="Calibri"/>
                        <a:cs typeface="Calibri"/>
                        <a:sym typeface="Calibri"/>
                      </a:endParaRPr>
                    </a:p>
                  </a:txBody>
                  <a:tcPr marT="91425" marB="91425" marR="91425" marL="91425">
                    <a:solidFill>
                      <a:srgbClr val="E1E9EA"/>
                    </a:solidFill>
                  </a:tcPr>
                </a:tc>
              </a:tr>
              <a:tr h="918725">
                <a:tc>
                  <a:txBody>
                    <a:bodyPr/>
                    <a:lstStyle/>
                    <a:p>
                      <a:pPr indent="0" lvl="0" marL="0" rtl="0" algn="l">
                        <a:spcBef>
                          <a:spcPts val="0"/>
                        </a:spcBef>
                        <a:spcAft>
                          <a:spcPts val="0"/>
                        </a:spcAft>
                        <a:buNone/>
                      </a:pPr>
                      <a:r>
                        <a:rPr lang="en-US" sz="2000">
                          <a:latin typeface="Calibri"/>
                          <a:ea typeface="Calibri"/>
                          <a:cs typeface="Calibri"/>
                          <a:sym typeface="Calibri"/>
                        </a:rPr>
                        <a:t>Flügge et al., 2023</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Oral cavity, OSCC</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Swin</a:t>
                      </a:r>
                      <a:endParaRPr sz="200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Transformer, Grad-CAM</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Single surface, no fusion</a:t>
                      </a:r>
                      <a:endParaRPr sz="2000">
                        <a:latin typeface="Calibri"/>
                        <a:ea typeface="Calibri"/>
                        <a:cs typeface="Calibri"/>
                        <a:sym typeface="Calibri"/>
                      </a:endParaRPr>
                    </a:p>
                  </a:txBody>
                  <a:tcPr marT="91425" marB="91425" marR="91425" marL="91425"/>
                </a:tc>
              </a:tr>
              <a:tr h="918725">
                <a:tc>
                  <a:txBody>
                    <a:bodyPr/>
                    <a:lstStyle/>
                    <a:p>
                      <a:pPr indent="0" lvl="0" marL="0" rtl="0" algn="l">
                        <a:spcBef>
                          <a:spcPts val="0"/>
                        </a:spcBef>
                        <a:spcAft>
                          <a:spcPts val="0"/>
                        </a:spcAft>
                        <a:buNone/>
                      </a:pPr>
                      <a:r>
                        <a:rPr lang="en-US" sz="2000">
                          <a:latin typeface="Calibri"/>
                          <a:ea typeface="Calibri"/>
                          <a:cs typeface="Calibri"/>
                          <a:sym typeface="Calibri"/>
                        </a:rPr>
                        <a:t>Rabinovici-Cohen et al., 2024</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Oral cavity,  OPMD/OSCC</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T</a:t>
                      </a:r>
                      <a:r>
                        <a:rPr lang="en-US" sz="2000">
                          <a:solidFill>
                            <a:schemeClr val="dk1"/>
                          </a:solidFill>
                          <a:latin typeface="Calibri"/>
                          <a:ea typeface="Calibri"/>
                          <a:cs typeface="Calibri"/>
                          <a:sym typeface="Calibri"/>
                        </a:rPr>
                        <a:t>ransfer-learning classifier</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C</a:t>
                      </a:r>
                      <a:r>
                        <a:rPr lang="en-US" sz="2000">
                          <a:solidFill>
                            <a:schemeClr val="dk1"/>
                          </a:solidFill>
                          <a:latin typeface="Calibri"/>
                          <a:ea typeface="Calibri"/>
                          <a:cs typeface="Calibri"/>
                          <a:sym typeface="Calibri"/>
                        </a:rPr>
                        <a:t>lass imbalance, limited external validation</a:t>
                      </a:r>
                      <a:endParaRPr sz="2000">
                        <a:latin typeface="Calibri"/>
                        <a:ea typeface="Calibri"/>
                        <a:cs typeface="Calibri"/>
                        <a:sym typeface="Calibri"/>
                      </a:endParaRPr>
                    </a:p>
                  </a:txBody>
                  <a:tcPr marT="91425" marB="91425" marR="91425" marL="91425"/>
                </a:tc>
              </a:tr>
              <a:tr h="918725">
                <a:tc>
                  <a:txBody>
                    <a:bodyPr/>
                    <a:lstStyle/>
                    <a:p>
                      <a:pPr indent="0" lvl="0" marL="0" rtl="0" algn="l">
                        <a:spcBef>
                          <a:spcPts val="0"/>
                        </a:spcBef>
                        <a:spcAft>
                          <a:spcPts val="0"/>
                        </a:spcAft>
                        <a:buNone/>
                      </a:pPr>
                      <a:r>
                        <a:rPr lang="en-US" sz="2000">
                          <a:latin typeface="Calibri"/>
                          <a:ea typeface="Calibri"/>
                          <a:cs typeface="Calibri"/>
                          <a:sym typeface="Calibri"/>
                        </a:rPr>
                        <a:t>Asare et al., 2023</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Nails, palm, conjunctiva</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CNN, SVM, k-NN (compared)</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US" sz="2000">
                          <a:solidFill>
                            <a:schemeClr val="dk1"/>
                          </a:solidFill>
                          <a:latin typeface="Calibri"/>
                          <a:ea typeface="Calibri"/>
                          <a:cs typeface="Calibri"/>
                          <a:sym typeface="Calibri"/>
                        </a:rPr>
                        <a:t>S</a:t>
                      </a:r>
                      <a:r>
                        <a:rPr lang="en-US" sz="2000">
                          <a:solidFill>
                            <a:schemeClr val="dk1"/>
                          </a:solidFill>
                          <a:latin typeface="Calibri"/>
                          <a:ea typeface="Calibri"/>
                          <a:cs typeface="Calibri"/>
                          <a:sym typeface="Calibri"/>
                        </a:rPr>
                        <a:t>urfaces compared, never fused</a:t>
                      </a:r>
                      <a:endParaRPr sz="2000">
                        <a:solidFill>
                          <a:schemeClr val="dk1"/>
                        </a:solidFill>
                        <a:latin typeface="Calibri"/>
                        <a:ea typeface="Calibri"/>
                        <a:cs typeface="Calibri"/>
                        <a:sym typeface="Calibri"/>
                      </a:endParaRPr>
                    </a:p>
                    <a:p>
                      <a:pPr indent="0" lvl="0" marL="0" rtl="0" algn="l">
                        <a:spcBef>
                          <a:spcPts val="0"/>
                        </a:spcBef>
                        <a:spcAft>
                          <a:spcPts val="0"/>
                        </a:spcAft>
                        <a:buNone/>
                      </a:pPr>
                      <a:r>
                        <a:t/>
                      </a:r>
                      <a:endParaRPr sz="2000">
                        <a:latin typeface="Calibri"/>
                        <a:ea typeface="Calibri"/>
                        <a:cs typeface="Calibri"/>
                        <a:sym typeface="Calibri"/>
                      </a:endParaRPr>
                    </a:p>
                  </a:txBody>
                  <a:tcPr marT="91425" marB="91425" marR="91425" marL="91425"/>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SzPts val="1400"/>
              <a:buNone/>
            </a:pPr>
            <a:r>
              <a:rPr b="1" lang="en-US" sz="4000"/>
              <a:t>LITERATURE REVIEW</a:t>
            </a:r>
            <a:endParaRPr sz="2000"/>
          </a:p>
        </p:txBody>
      </p:sp>
      <p:graphicFrame>
        <p:nvGraphicFramePr>
          <p:cNvPr id="136" name="Google Shape;136;p20"/>
          <p:cNvGraphicFramePr/>
          <p:nvPr/>
        </p:nvGraphicFramePr>
        <p:xfrm>
          <a:off x="457200" y="1609200"/>
          <a:ext cx="3000000" cy="3000000"/>
        </p:xfrm>
        <a:graphic>
          <a:graphicData uri="http://schemas.openxmlformats.org/drawingml/2006/table">
            <a:tbl>
              <a:tblPr>
                <a:noFill/>
                <a:tableStyleId>{55E94970-25BA-4ACD-85B8-0799969456D3}</a:tableStyleId>
              </a:tblPr>
              <a:tblGrid>
                <a:gridCol w="2057400"/>
                <a:gridCol w="2057400"/>
                <a:gridCol w="2057400"/>
                <a:gridCol w="2057400"/>
              </a:tblGrid>
              <a:tr h="601400">
                <a:tc>
                  <a:txBody>
                    <a:bodyPr/>
                    <a:lstStyle/>
                    <a:p>
                      <a:pPr indent="0" lvl="0" marL="0" rtl="0" algn="l">
                        <a:spcBef>
                          <a:spcPts val="0"/>
                        </a:spcBef>
                        <a:spcAft>
                          <a:spcPts val="0"/>
                        </a:spcAft>
                        <a:buNone/>
                      </a:pPr>
                      <a:r>
                        <a:rPr b="1" lang="en-US" sz="2000">
                          <a:latin typeface="Calibri"/>
                          <a:ea typeface="Calibri"/>
                          <a:cs typeface="Calibri"/>
                          <a:sym typeface="Calibri"/>
                        </a:rPr>
                        <a:t>Source</a:t>
                      </a:r>
                      <a:endParaRPr b="1" sz="2000">
                        <a:latin typeface="Calibri"/>
                        <a:ea typeface="Calibri"/>
                        <a:cs typeface="Calibri"/>
                        <a:sym typeface="Calibri"/>
                      </a:endParaRPr>
                    </a:p>
                  </a:txBody>
                  <a:tcPr marT="91425" marB="91425" marR="91425" marL="91425">
                    <a:solidFill>
                      <a:srgbClr val="E1E9EA"/>
                    </a:solidFill>
                  </a:tcPr>
                </a:tc>
                <a:tc>
                  <a:txBody>
                    <a:bodyPr/>
                    <a:lstStyle/>
                    <a:p>
                      <a:pPr indent="0" lvl="0" marL="0" rtl="0" algn="l">
                        <a:spcBef>
                          <a:spcPts val="0"/>
                        </a:spcBef>
                        <a:spcAft>
                          <a:spcPts val="0"/>
                        </a:spcAft>
                        <a:buNone/>
                      </a:pPr>
                      <a:r>
                        <a:rPr b="1" lang="en-US" sz="2000">
                          <a:latin typeface="Calibri"/>
                          <a:ea typeface="Calibri"/>
                          <a:cs typeface="Calibri"/>
                          <a:sym typeface="Calibri"/>
                        </a:rPr>
                        <a:t>Modality</a:t>
                      </a:r>
                      <a:endParaRPr b="1" sz="2000">
                        <a:latin typeface="Calibri"/>
                        <a:ea typeface="Calibri"/>
                        <a:cs typeface="Calibri"/>
                        <a:sym typeface="Calibri"/>
                      </a:endParaRPr>
                    </a:p>
                  </a:txBody>
                  <a:tcPr marT="91425" marB="91425" marR="91425" marL="91425">
                    <a:solidFill>
                      <a:srgbClr val="E1E9EA"/>
                    </a:solidFill>
                  </a:tcPr>
                </a:tc>
                <a:tc>
                  <a:txBody>
                    <a:bodyPr/>
                    <a:lstStyle/>
                    <a:p>
                      <a:pPr indent="0" lvl="0" marL="0" rtl="0" algn="l">
                        <a:spcBef>
                          <a:spcPts val="0"/>
                        </a:spcBef>
                        <a:spcAft>
                          <a:spcPts val="0"/>
                        </a:spcAft>
                        <a:buNone/>
                      </a:pPr>
                      <a:r>
                        <a:rPr b="1" lang="en-US" sz="2000">
                          <a:latin typeface="Calibri"/>
                          <a:ea typeface="Calibri"/>
                          <a:cs typeface="Calibri"/>
                          <a:sym typeface="Calibri"/>
                        </a:rPr>
                        <a:t>Method</a:t>
                      </a:r>
                      <a:endParaRPr b="1" sz="2000">
                        <a:latin typeface="Calibri"/>
                        <a:ea typeface="Calibri"/>
                        <a:cs typeface="Calibri"/>
                        <a:sym typeface="Calibri"/>
                      </a:endParaRPr>
                    </a:p>
                  </a:txBody>
                  <a:tcPr marT="91425" marB="91425" marR="91425" marL="91425">
                    <a:solidFill>
                      <a:srgbClr val="E1E9EA"/>
                    </a:solidFill>
                  </a:tcPr>
                </a:tc>
                <a:tc>
                  <a:txBody>
                    <a:bodyPr/>
                    <a:lstStyle/>
                    <a:p>
                      <a:pPr indent="0" lvl="0" marL="0" rtl="0" algn="l">
                        <a:spcBef>
                          <a:spcPts val="0"/>
                        </a:spcBef>
                        <a:spcAft>
                          <a:spcPts val="0"/>
                        </a:spcAft>
                        <a:buNone/>
                      </a:pPr>
                      <a:r>
                        <a:rPr b="1" lang="en-US" sz="2000">
                          <a:latin typeface="Calibri"/>
                          <a:ea typeface="Calibri"/>
                          <a:cs typeface="Calibri"/>
                          <a:sym typeface="Calibri"/>
                        </a:rPr>
                        <a:t>Key Limitation</a:t>
                      </a:r>
                      <a:endParaRPr b="1" sz="2000">
                        <a:latin typeface="Calibri"/>
                        <a:ea typeface="Calibri"/>
                        <a:cs typeface="Calibri"/>
                        <a:sym typeface="Calibri"/>
                      </a:endParaRPr>
                    </a:p>
                  </a:txBody>
                  <a:tcPr marT="91425" marB="91425" marR="91425" marL="91425">
                    <a:solidFill>
                      <a:srgbClr val="E1E9EA"/>
                    </a:solidFill>
                  </a:tcPr>
                </a:tc>
              </a:tr>
              <a:tr h="918725">
                <a:tc>
                  <a:txBody>
                    <a:bodyPr/>
                    <a:lstStyle/>
                    <a:p>
                      <a:pPr indent="0" lvl="0" marL="0" rtl="0" algn="l">
                        <a:spcBef>
                          <a:spcPts val="0"/>
                        </a:spcBef>
                        <a:spcAft>
                          <a:spcPts val="0"/>
                        </a:spcAft>
                        <a:buNone/>
                      </a:pPr>
                      <a:r>
                        <a:rPr lang="en-US" sz="2000">
                          <a:latin typeface="Calibri"/>
                          <a:ea typeface="Calibri"/>
                          <a:cs typeface="Calibri"/>
                          <a:sym typeface="Calibri"/>
                        </a:rPr>
                        <a:t>Ye et al., 2026 (iMES)</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Face, tongue, pulse</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CCA fusion, SHAP</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Dedicated hardware, no uncertainty output</a:t>
                      </a:r>
                      <a:endParaRPr sz="2000">
                        <a:latin typeface="Calibri"/>
                        <a:ea typeface="Calibri"/>
                        <a:cs typeface="Calibri"/>
                        <a:sym typeface="Calibri"/>
                      </a:endParaRPr>
                    </a:p>
                  </a:txBody>
                  <a:tcPr marT="91425" marB="91425" marR="91425" marL="91425"/>
                </a:tc>
              </a:tr>
              <a:tr h="918725">
                <a:tc>
                  <a:txBody>
                    <a:bodyPr/>
                    <a:lstStyle/>
                    <a:p>
                      <a:pPr indent="0" lvl="0" marL="0" rtl="0" algn="l">
                        <a:spcBef>
                          <a:spcPts val="0"/>
                        </a:spcBef>
                        <a:spcAft>
                          <a:spcPts val="0"/>
                        </a:spcAft>
                        <a:buNone/>
                      </a:pPr>
                      <a:r>
                        <a:rPr lang="en-US" sz="2000">
                          <a:latin typeface="Calibri"/>
                          <a:ea typeface="Calibri"/>
                          <a:cs typeface="Calibri"/>
                          <a:sym typeface="Calibri"/>
                        </a:rPr>
                        <a:t>General ViT literature</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Various medical imaging</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Vision Transformer encoders</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Rarely combined across surfaces</a:t>
                      </a:r>
                      <a:endParaRPr sz="2000">
                        <a:latin typeface="Calibri"/>
                        <a:ea typeface="Calibri"/>
                        <a:cs typeface="Calibri"/>
                        <a:sym typeface="Calibri"/>
                      </a:endParaRPr>
                    </a:p>
                  </a:txBody>
                  <a:tcPr marT="91425" marB="91425" marR="91425" marL="91425"/>
                </a:tc>
              </a:tr>
              <a:tr h="918725">
                <a:tc>
                  <a:txBody>
                    <a:bodyPr/>
                    <a:lstStyle/>
                    <a:p>
                      <a:pPr indent="0" lvl="0" marL="0" rtl="0" algn="l">
                        <a:spcBef>
                          <a:spcPts val="0"/>
                        </a:spcBef>
                        <a:spcAft>
                          <a:spcPts val="0"/>
                        </a:spcAft>
                        <a:buNone/>
                      </a:pPr>
                      <a:r>
                        <a:rPr lang="en-US" sz="2000">
                          <a:latin typeface="Calibri"/>
                          <a:ea typeface="Calibri"/>
                          <a:cs typeface="Calibri"/>
                          <a:sym typeface="Calibri"/>
                        </a:rPr>
                        <a:t>Multimodal fusion literature</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Cross-domain imaging</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Attention-based fusion</a:t>
                      </a:r>
                      <a:endParaRPr sz="2000">
                        <a:latin typeface="Calibri"/>
                        <a:ea typeface="Calibri"/>
                        <a:cs typeface="Calibri"/>
                        <a:sym typeface="Calibri"/>
                      </a:endParaRPr>
                    </a:p>
                  </a:txBody>
                  <a:tcPr marT="91425" marB="91425" marR="91425" marL="91425"/>
                </a:tc>
                <a:tc>
                  <a:txBody>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No smartphone-only variant</a:t>
                      </a:r>
                      <a:endParaRPr sz="2000">
                        <a:solidFill>
                          <a:schemeClr val="dk1"/>
                        </a:solidFill>
                        <a:latin typeface="Calibri"/>
                        <a:ea typeface="Calibri"/>
                        <a:cs typeface="Calibri"/>
                        <a:sym typeface="Calibri"/>
                      </a:endParaRPr>
                    </a:p>
                    <a:p>
                      <a:pPr indent="0" lvl="0" marL="0" rtl="0" algn="l">
                        <a:spcBef>
                          <a:spcPts val="0"/>
                        </a:spcBef>
                        <a:spcAft>
                          <a:spcPts val="0"/>
                        </a:spcAft>
                        <a:buNone/>
                      </a:pPr>
                      <a:r>
                        <a:t/>
                      </a:r>
                      <a:endParaRPr sz="2000">
                        <a:latin typeface="Calibri"/>
                        <a:ea typeface="Calibri"/>
                        <a:cs typeface="Calibri"/>
                        <a:sym typeface="Calibri"/>
                      </a:endParaRPr>
                    </a:p>
                  </a:txBody>
                  <a:tcPr marT="91425" marB="91425" marR="91425" marL="91425"/>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1"/>
          <p:cNvSpPr txBox="1"/>
          <p:nvPr>
            <p:ph type="title"/>
          </p:nvPr>
        </p:nvSpPr>
        <p:spPr>
          <a:xfrm>
            <a:off x="722313" y="4406900"/>
            <a:ext cx="7772400" cy="13620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t>Gap Analysis</a:t>
            </a:r>
            <a:endParaRPr/>
          </a:p>
        </p:txBody>
      </p:sp>
      <p:sp>
        <p:nvSpPr>
          <p:cNvPr id="142" name="Google Shape;142;p21"/>
          <p:cNvSpPr txBox="1"/>
          <p:nvPr>
            <p:ph idx="1" type="body"/>
          </p:nvPr>
        </p:nvSpPr>
        <p:spPr>
          <a:xfrm>
            <a:off x="722313" y="2906713"/>
            <a:ext cx="7772400" cy="1500300"/>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SzPts val="1400"/>
              <a:buNone/>
            </a:pPr>
            <a:r>
              <a:rPr b="1" lang="en-US" sz="4000"/>
              <a:t>Gap Analysis</a:t>
            </a:r>
            <a:endParaRPr b="1" sz="4000"/>
          </a:p>
        </p:txBody>
      </p:sp>
      <p:sp>
        <p:nvSpPr>
          <p:cNvPr id="148" name="Google Shape;148;p22"/>
          <p:cNvSpPr txBox="1"/>
          <p:nvPr>
            <p:ph idx="1" type="body"/>
          </p:nvPr>
        </p:nvSpPr>
        <p:spPr>
          <a:xfrm>
            <a:off x="457200" y="1600200"/>
            <a:ext cx="8229600" cy="452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3200"/>
              <a:buNone/>
            </a:pPr>
            <a:r>
              <a:rPr b="1" lang="en-US" sz="2000"/>
              <a:t>1. Single-surface tools dominate the field.</a:t>
            </a:r>
            <a:r>
              <a:rPr lang="en-US" sz="2000"/>
              <a:t> Conjunctival pallor detection, nail-based anemia/clubbing classifiers, and oral cavity OSCC screeners each work on one body surface only. None combine surfaces.</a:t>
            </a:r>
            <a:endParaRPr sz="2000"/>
          </a:p>
          <a:p>
            <a:pPr indent="0" lvl="0" marL="0" rtl="0" algn="l">
              <a:lnSpc>
                <a:spcPct val="100000"/>
              </a:lnSpc>
              <a:spcBef>
                <a:spcPts val="0"/>
              </a:spcBef>
              <a:spcAft>
                <a:spcPts val="0"/>
              </a:spcAft>
              <a:buClr>
                <a:schemeClr val="dk1"/>
              </a:buClr>
              <a:buSzPts val="3200"/>
              <a:buNone/>
            </a:pPr>
            <a:r>
              <a:t/>
            </a:r>
            <a:endParaRPr sz="2000"/>
          </a:p>
          <a:p>
            <a:pPr indent="0" lvl="0" marL="0" rtl="0" algn="l">
              <a:lnSpc>
                <a:spcPct val="115000"/>
              </a:lnSpc>
              <a:spcBef>
                <a:spcPts val="0"/>
              </a:spcBef>
              <a:spcAft>
                <a:spcPts val="0"/>
              </a:spcAft>
              <a:buClr>
                <a:schemeClr val="dk1"/>
              </a:buClr>
              <a:buSzPts val="1100"/>
              <a:buFont typeface="Arial"/>
              <a:buNone/>
            </a:pPr>
            <a:r>
              <a:rPr b="1" lang="en-US" sz="2000"/>
              <a:t>2. No cross-surface fusion.</a:t>
            </a:r>
            <a:r>
              <a:rPr lang="en-US" sz="2000"/>
              <a:t> Asare et al. (2023) collected fingernail, palm, and conjunctiva images from the same patients but only compared them, never fused them into one model.</a:t>
            </a:r>
            <a:endParaRPr sz="2000"/>
          </a:p>
          <a:p>
            <a:pPr indent="0" lvl="0" marL="0" rtl="0" algn="l">
              <a:lnSpc>
                <a:spcPct val="115000"/>
              </a:lnSpc>
              <a:spcBef>
                <a:spcPts val="1200"/>
              </a:spcBef>
              <a:spcAft>
                <a:spcPts val="0"/>
              </a:spcAft>
              <a:buClr>
                <a:schemeClr val="dk1"/>
              </a:buClr>
              <a:buSzPts val="1100"/>
              <a:buFont typeface="Arial"/>
              <a:buNone/>
            </a:pPr>
            <a:r>
              <a:rPr b="1" lang="en-US" sz="2000"/>
              <a:t>3. Fusion exists, but needs dedicated hardware.</a:t>
            </a:r>
            <a:r>
              <a:rPr lang="en-US" sz="2000"/>
              <a:t> iMES (Ye et al., 2026) fuses face, tongue, and pulse for 9 diseases at 92%+ accuracy, but requires a purpose-built capture device, not a smartphone.</a:t>
            </a:r>
            <a:endParaRPr sz="2000"/>
          </a:p>
          <a:p>
            <a:pPr indent="-139700" lvl="0" marL="342900" rtl="0" algn="l">
              <a:lnSpc>
                <a:spcPct val="100000"/>
              </a:lnSpc>
              <a:spcBef>
                <a:spcPts val="1200"/>
              </a:spcBef>
              <a:spcAft>
                <a:spcPts val="0"/>
              </a:spcAft>
              <a:buClr>
                <a:schemeClr val="dk1"/>
              </a:buClr>
              <a:buSzPts val="3200"/>
              <a:buNone/>
            </a:pPr>
            <a:r>
              <a:t/>
            </a:r>
            <a:endParaRPr sz="1100">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SzPts val="1400"/>
              <a:buNone/>
            </a:pPr>
            <a:r>
              <a:rPr b="1" lang="en-US" sz="4000"/>
              <a:t>Gap Analysis</a:t>
            </a:r>
            <a:endParaRPr/>
          </a:p>
        </p:txBody>
      </p:sp>
      <p:sp>
        <p:nvSpPr>
          <p:cNvPr id="154" name="Google Shape;154;p23"/>
          <p:cNvSpPr txBox="1"/>
          <p:nvPr>
            <p:ph idx="1" type="body"/>
          </p:nvPr>
        </p:nvSpPr>
        <p:spPr>
          <a:xfrm>
            <a:off x="457200" y="1600200"/>
            <a:ext cx="8229600" cy="45261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None/>
            </a:pPr>
            <a:r>
              <a:rPr b="1" lang="en-US" sz="2000"/>
              <a:t>4</a:t>
            </a:r>
            <a:r>
              <a:rPr b="1" lang="en-US" sz="2000"/>
              <a:t>. No uncertainty output.</a:t>
            </a:r>
            <a:r>
              <a:rPr lang="en-US" sz="2000"/>
              <a:t> iMES's CCA-based fusion and Asare et al.'s classifiers all return a bare label or SHAP heatmap, never a confidence score.</a:t>
            </a:r>
            <a:endParaRPr sz="2000"/>
          </a:p>
          <a:p>
            <a:pPr indent="0" lvl="0" marL="0" rtl="0" algn="l">
              <a:lnSpc>
                <a:spcPct val="115000"/>
              </a:lnSpc>
              <a:spcBef>
                <a:spcPts val="1200"/>
              </a:spcBef>
              <a:spcAft>
                <a:spcPts val="0"/>
              </a:spcAft>
              <a:buClr>
                <a:schemeClr val="dk1"/>
              </a:buClr>
              <a:buSzPts val="1100"/>
              <a:buNone/>
            </a:pPr>
            <a:r>
              <a:rPr b="1" lang="en-US" sz="2000"/>
              <a:t>5. Severe class imbalance, unaddressed.</a:t>
            </a:r>
            <a:r>
              <a:rPr lang="en-US" sz="2000"/>
              <a:t> Rabinovici-Cohen et al. (2024) report OSCC accuracy on datasets where positive samples (129) are dwarfed by negatives (700 to 1,400), with no stated imbalance strategy.</a:t>
            </a:r>
            <a:endParaRPr sz="2000"/>
          </a:p>
          <a:p>
            <a:pPr indent="0" lvl="0" marL="0" rtl="0" algn="l">
              <a:lnSpc>
                <a:spcPct val="115000"/>
              </a:lnSpc>
              <a:spcBef>
                <a:spcPts val="1200"/>
              </a:spcBef>
              <a:spcAft>
                <a:spcPts val="0"/>
              </a:spcAft>
              <a:buClr>
                <a:schemeClr val="dk1"/>
              </a:buClr>
              <a:buSzPts val="1100"/>
              <a:buNone/>
            </a:pPr>
            <a:r>
              <a:rPr b="1" lang="en-US" sz="2000"/>
              <a:t>6. No missing-modality robustness.</a:t>
            </a:r>
            <a:r>
              <a:rPr lang="en-US" sz="2000"/>
              <a:t> Every reviewed system (Asare et al., iMES, single-surface classifiers) assumes all inputs are always present and well-captured.</a:t>
            </a:r>
            <a:endParaRPr sz="2000"/>
          </a:p>
          <a:p>
            <a:pPr indent="0" lvl="0" marL="0" rtl="0" algn="l">
              <a:lnSpc>
                <a:spcPct val="115000"/>
              </a:lnSpc>
              <a:spcBef>
                <a:spcPts val="1200"/>
              </a:spcBef>
              <a:spcAft>
                <a:spcPts val="0"/>
              </a:spcAft>
              <a:buClr>
                <a:schemeClr val="dk1"/>
              </a:buClr>
              <a:buSzPts val="1100"/>
              <a:buNone/>
            </a:pPr>
            <a:r>
              <a:rPr b="1" lang="en-US" sz="2000"/>
              <a:t>7. No patient-facing output.</a:t>
            </a:r>
            <a:r>
              <a:rPr lang="en-US" sz="2000"/>
              <a:t> Systems stop at a label (Asare et al.) or a technical SHAP map (iMES), not a report a patient can read.</a:t>
            </a:r>
            <a:endParaRPr b="1" sz="2000"/>
          </a:p>
          <a:p>
            <a:pPr indent="-139700" lvl="0" marL="342900" rtl="0" algn="l">
              <a:lnSpc>
                <a:spcPct val="100000"/>
              </a:lnSpc>
              <a:spcBef>
                <a:spcPts val="1200"/>
              </a:spcBef>
              <a:spcAft>
                <a:spcPts val="0"/>
              </a:spcAft>
              <a:buClr>
                <a:schemeClr val="dk1"/>
              </a:buClr>
              <a:buSzPts val="3200"/>
              <a:buNone/>
            </a:pPr>
            <a:r>
              <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4"/>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t>PROBLEM STATEMENT</a:t>
            </a:r>
            <a:endParaRPr/>
          </a:p>
        </p:txBody>
      </p:sp>
      <p:sp>
        <p:nvSpPr>
          <p:cNvPr id="160" name="Google Shape;160;p24"/>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SzPts val="1400"/>
              <a:buNone/>
            </a:pPr>
            <a:r>
              <a:rPr b="1" lang="en-US" sz="4000"/>
              <a:t>PROBLEM STATEMENT</a:t>
            </a:r>
            <a:endParaRPr/>
          </a:p>
        </p:txBody>
      </p:sp>
      <p:sp>
        <p:nvSpPr>
          <p:cNvPr id="166" name="Google Shape;166;p25"/>
          <p:cNvSpPr txBox="1"/>
          <p:nvPr/>
        </p:nvSpPr>
        <p:spPr>
          <a:xfrm>
            <a:off x="774200" y="1501325"/>
            <a:ext cx="7912500" cy="4268700"/>
          </a:xfrm>
          <a:prstGeom prst="rect">
            <a:avLst/>
          </a:prstGeom>
          <a:noFill/>
          <a:ln>
            <a:noFill/>
          </a:ln>
        </p:spPr>
        <p:txBody>
          <a:bodyPr anchorCtr="0" anchor="t" bIns="91425" lIns="91425" spcFirstLastPara="1" rIns="91425" wrap="square" tIns="91425">
            <a:noAutofit/>
          </a:bodyPr>
          <a:lstStyle/>
          <a:p>
            <a:pPr indent="-139700" lvl="0" marL="342900" rtl="0" algn="l">
              <a:spcBef>
                <a:spcPts val="0"/>
              </a:spcBef>
              <a:spcAft>
                <a:spcPts val="0"/>
              </a:spcAft>
              <a:buNone/>
            </a:pPr>
            <a:r>
              <a:rPr lang="en-US" sz="2400">
                <a:solidFill>
                  <a:schemeClr val="dk1"/>
                </a:solidFill>
                <a:latin typeface="Calibri"/>
                <a:ea typeface="Calibri"/>
                <a:cs typeface="Calibri"/>
                <a:sym typeface="Calibri"/>
              </a:rPr>
              <a:t>  </a:t>
            </a:r>
            <a:r>
              <a:rPr lang="en-US" sz="2400">
                <a:solidFill>
                  <a:schemeClr val="dk1"/>
                </a:solidFill>
                <a:latin typeface="Calibri"/>
                <a:ea typeface="Calibri"/>
                <a:cs typeface="Calibri"/>
                <a:sym typeface="Calibri"/>
              </a:rPr>
              <a:t>Prior work has explored non-invasive screening per body surface: conjunctiva for anemia, nails for anemia/clubbing, oral cavity for OSCC. Asare et al. (2023) directly compared three of these five surfaces but did not fuse them. iMES (2026) fused three different modalities (face, tongue, pulse) using dedicated hardware and classical fusion (CCA), not a smartphone or transformer-based architecture. No system combines five body-surface photographs from a smartphone alone into one transformer-fused, uncertainty-aware, multi-disease screening output.</a:t>
            </a:r>
            <a:endParaRPr sz="32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t>PROPOSED SOLUTION AND METHODOLOGY</a:t>
            </a:r>
            <a:endParaRPr/>
          </a:p>
        </p:txBody>
      </p:sp>
      <p:sp>
        <p:nvSpPr>
          <p:cNvPr id="172" name="Google Shape;172;p2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1400"/>
              <a:buNone/>
            </a:pPr>
            <a:r>
              <a:t/>
            </a:r>
            <a:endParaRPr/>
          </a:p>
        </p:txBody>
      </p:sp>
      <p:sp>
        <p:nvSpPr>
          <p:cNvPr id="178" name="Google Shape;178;p2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Autofit/>
          </a:bodyPr>
          <a:lstStyle/>
          <a:p>
            <a:pPr indent="-139700" lvl="0" marL="342900" rtl="0" algn="l">
              <a:lnSpc>
                <a:spcPct val="100000"/>
              </a:lnSpc>
              <a:spcBef>
                <a:spcPts val="0"/>
              </a:spcBef>
              <a:spcAft>
                <a:spcPts val="0"/>
              </a:spcAft>
              <a:buClr>
                <a:schemeClr val="dk1"/>
              </a:buClr>
              <a:buSzPts val="3200"/>
              <a:buNone/>
            </a:pPr>
            <a:r>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28"/>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t>PROJECT SCOPE</a:t>
            </a:r>
            <a:endParaRPr/>
          </a:p>
        </p:txBody>
      </p:sp>
      <p:sp>
        <p:nvSpPr>
          <p:cNvPr id="184" name="Google Shape;184;p28"/>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1400"/>
              <a:buNone/>
            </a:pPr>
            <a:r>
              <a:t/>
            </a:r>
            <a:endParaRPr/>
          </a:p>
        </p:txBody>
      </p:sp>
      <p:sp>
        <p:nvSpPr>
          <p:cNvPr id="190" name="Google Shape;190;p2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Autofit/>
          </a:bodyPr>
          <a:lstStyle/>
          <a:p>
            <a:pPr indent="-139700" lvl="0" marL="342900" rtl="0" algn="l">
              <a:lnSpc>
                <a:spcPct val="100000"/>
              </a:lnSpc>
              <a:spcBef>
                <a:spcPts val="0"/>
              </a:spcBef>
              <a:spcAft>
                <a:spcPts val="0"/>
              </a:spcAft>
              <a:buClr>
                <a:schemeClr val="dk1"/>
              </a:buClr>
              <a:buSzPts val="3200"/>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0"/>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400"/>
              <a:buNone/>
            </a:pPr>
            <a:r>
              <a:rPr lang="en-US"/>
              <a:t>CONSTRAINTS AND LIMITATIONS</a:t>
            </a:r>
            <a:endParaRPr/>
          </a:p>
        </p:txBody>
      </p:sp>
      <p:sp>
        <p:nvSpPr>
          <p:cNvPr id="196" name="Google Shape;196;p30"/>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p>
            <a:pPr indent="0" lvl="0" marL="44450" rtl="0" algn="l">
              <a:lnSpc>
                <a:spcPct val="100000"/>
              </a:lnSpc>
              <a:spcBef>
                <a:spcPts val="0"/>
              </a:spcBef>
              <a:spcAft>
                <a:spcPts val="0"/>
              </a:spcAft>
              <a:buClr>
                <a:srgbClr val="888888"/>
              </a:buClr>
              <a:buSzPts val="2000"/>
              <a:buFont typeface="Arial"/>
              <a:buNone/>
            </a:pPr>
            <a:r>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1400"/>
              <a:buNone/>
            </a:pPr>
            <a:r>
              <a:t/>
            </a:r>
            <a:endParaRPr/>
          </a:p>
        </p:txBody>
      </p:sp>
      <p:sp>
        <p:nvSpPr>
          <p:cNvPr id="202" name="Google Shape;202;p3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Autofit/>
          </a:bodyPr>
          <a:lstStyle/>
          <a:p>
            <a:pPr indent="-139700" lvl="0" marL="342900" rtl="0" algn="l">
              <a:lnSpc>
                <a:spcPct val="100000"/>
              </a:lnSpc>
              <a:spcBef>
                <a:spcPts val="0"/>
              </a:spcBef>
              <a:spcAft>
                <a:spcPts val="0"/>
              </a:spcAft>
              <a:buClr>
                <a:schemeClr val="dk1"/>
              </a:buClr>
              <a:buSzPts val="3200"/>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